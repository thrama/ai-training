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75" r:id="rId6"/>
    <p:sldId id="276" r:id="rId7"/>
    <p:sldId id="277" r:id="rId8"/>
    <p:sldId id="278" r:id="rId9"/>
    <p:sldId id="279" r:id="rId10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zione predefinita" id="{F8DFD433-CB78-4195-940D-3D2612CBA587}">
          <p14:sldIdLst>
            <p14:sldId id="256"/>
            <p14:sldId id="275"/>
            <p14:sldId id="276"/>
            <p14:sldId id="277"/>
            <p14:sldId id="278"/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080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033" autoAdjust="0"/>
    <p:restoredTop sz="94660"/>
  </p:normalViewPr>
  <p:slideViewPr>
    <p:cSldViewPr snapToGrid="0">
      <p:cViewPr varScale="1">
        <p:scale>
          <a:sx n="86" d="100"/>
          <a:sy n="86" d="100"/>
        </p:scale>
        <p:origin x="90" y="5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953CFD8-6EB3-F665-1ECD-573D6A7CBCC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465263"/>
            <a:ext cx="7905750" cy="3303587"/>
          </a:xfrm>
          <a:ln>
            <a:noFill/>
          </a:ln>
        </p:spPr>
        <p:txBody>
          <a:bodyPr anchor="t"/>
          <a:lstStyle>
            <a:lvl1pPr algn="l">
              <a:defRPr sz="6000">
                <a:solidFill>
                  <a:srgbClr val="080808"/>
                </a:solidFill>
                <a:effectLst/>
                <a:latin typeface="Geist Black" pitchFamily="50" charset="0"/>
                <a:ea typeface="Geist Black" pitchFamily="50" charset="0"/>
                <a:cs typeface="Geist Black" pitchFamily="50" charset="0"/>
              </a:defRPr>
            </a:lvl1pPr>
          </a:lstStyle>
          <a:p>
            <a:r>
              <a:rPr lang="it-IT" dirty="0"/>
              <a:t>LARGE</a:t>
            </a:r>
            <a:br>
              <a:rPr lang="it-IT" dirty="0"/>
            </a:br>
            <a:r>
              <a:rPr lang="it-IT" dirty="0"/>
              <a:t>LANGUAGE</a:t>
            </a:r>
            <a:br>
              <a:rPr lang="it-IT" dirty="0"/>
            </a:br>
            <a:r>
              <a:rPr lang="it-IT" dirty="0"/>
              <a:t>MODELS</a:t>
            </a:r>
          </a:p>
        </p:txBody>
      </p:sp>
      <p:pic>
        <p:nvPicPr>
          <p:cNvPr id="3" name="Google Shape;13;p8" descr="Immagine che contiene schermata, Policromia, Elementi grafici, arancione&#10;&#10;Descrizione generata automaticamente">
            <a:extLst>
              <a:ext uri="{FF2B5EF4-FFF2-40B4-BE49-F238E27FC236}">
                <a16:creationId xmlns:a16="http://schemas.microsoft.com/office/drawing/2014/main" id="{C2E3F22B-0471-58B8-8B70-069DC46A4EFA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</p:pic>
      <p:grpSp>
        <p:nvGrpSpPr>
          <p:cNvPr id="4" name="Google Shape;14;p8">
            <a:extLst>
              <a:ext uri="{FF2B5EF4-FFF2-40B4-BE49-F238E27FC236}">
                <a16:creationId xmlns:a16="http://schemas.microsoft.com/office/drawing/2014/main" id="{2A0E6C54-B71B-2E3B-ABE7-E54E5BE7138C}"/>
              </a:ext>
            </a:extLst>
          </p:cNvPr>
          <p:cNvGrpSpPr/>
          <p:nvPr userDrawn="1"/>
        </p:nvGrpSpPr>
        <p:grpSpPr>
          <a:xfrm>
            <a:off x="9403822" y="6253378"/>
            <a:ext cx="2362199" cy="317915"/>
            <a:chOff x="3529477" y="82930"/>
            <a:chExt cx="1805723" cy="243022"/>
          </a:xfrm>
        </p:grpSpPr>
        <p:sp>
          <p:nvSpPr>
            <p:cNvPr id="5" name="Google Shape;15;p8">
              <a:extLst>
                <a:ext uri="{FF2B5EF4-FFF2-40B4-BE49-F238E27FC236}">
                  <a16:creationId xmlns:a16="http://schemas.microsoft.com/office/drawing/2014/main" id="{58BF1C57-FDD8-6640-783F-7ED8ACA47E97}"/>
                </a:ext>
              </a:extLst>
            </p:cNvPr>
            <p:cNvSpPr/>
            <p:nvPr/>
          </p:nvSpPr>
          <p:spPr>
            <a:xfrm>
              <a:off x="3529477" y="82930"/>
              <a:ext cx="198312" cy="239417"/>
            </a:xfrm>
            <a:custGeom>
              <a:avLst/>
              <a:gdLst/>
              <a:ahLst/>
              <a:cxnLst/>
              <a:rect l="l" t="t" r="r" b="b"/>
              <a:pathLst>
                <a:path w="198312" h="239417" extrusionOk="0">
                  <a:moveTo>
                    <a:pt x="36057" y="205524"/>
                  </a:moveTo>
                  <a:lnTo>
                    <a:pt x="83652" y="205524"/>
                  </a:lnTo>
                  <a:cubicBezTo>
                    <a:pt x="128362" y="205524"/>
                    <a:pt x="162256" y="170909"/>
                    <a:pt x="162256" y="120430"/>
                  </a:cubicBezTo>
                  <a:cubicBezTo>
                    <a:pt x="162256" y="69950"/>
                    <a:pt x="128362" y="35336"/>
                    <a:pt x="83652" y="35336"/>
                  </a:cubicBezTo>
                  <a:lnTo>
                    <a:pt x="36057" y="35336"/>
                  </a:lnTo>
                  <a:lnTo>
                    <a:pt x="36057" y="206245"/>
                  </a:lnTo>
                  <a:lnTo>
                    <a:pt x="36057" y="205524"/>
                  </a:lnTo>
                  <a:close/>
                  <a:moveTo>
                    <a:pt x="0" y="239417"/>
                  </a:moveTo>
                  <a:lnTo>
                    <a:pt x="0" y="0"/>
                  </a:lnTo>
                  <a:lnTo>
                    <a:pt x="83652" y="0"/>
                  </a:lnTo>
                  <a:cubicBezTo>
                    <a:pt x="148554" y="0"/>
                    <a:pt x="198312" y="49758"/>
                    <a:pt x="198312" y="119709"/>
                  </a:cubicBezTo>
                  <a:cubicBezTo>
                    <a:pt x="198312" y="189659"/>
                    <a:pt x="148554" y="239417"/>
                    <a:pt x="83652" y="239417"/>
                  </a:cubicBezTo>
                  <a:lnTo>
                    <a:pt x="0" y="23941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" name="Google Shape;16;p8">
              <a:extLst>
                <a:ext uri="{FF2B5EF4-FFF2-40B4-BE49-F238E27FC236}">
                  <a16:creationId xmlns:a16="http://schemas.microsoft.com/office/drawing/2014/main" id="{C23DB068-1D8C-E248-29BA-0E3AF159BE0D}"/>
                </a:ext>
              </a:extLst>
            </p:cNvPr>
            <p:cNvSpPr/>
            <p:nvPr/>
          </p:nvSpPr>
          <p:spPr>
            <a:xfrm>
              <a:off x="3740049" y="148553"/>
              <a:ext cx="166582" cy="177399"/>
            </a:xfrm>
            <a:custGeom>
              <a:avLst/>
              <a:gdLst/>
              <a:ahLst/>
              <a:cxnLst/>
              <a:rect l="l" t="t" r="r" b="b"/>
              <a:pathLst>
                <a:path w="166582" h="177399" extrusionOk="0">
                  <a:moveTo>
                    <a:pt x="132689" y="173794"/>
                  </a:moveTo>
                  <a:lnTo>
                    <a:pt x="132689" y="155044"/>
                  </a:lnTo>
                  <a:lnTo>
                    <a:pt x="131247" y="155044"/>
                  </a:lnTo>
                  <a:cubicBezTo>
                    <a:pt x="127641" y="160092"/>
                    <a:pt x="111055" y="177399"/>
                    <a:pt x="78604" y="177399"/>
                  </a:cubicBezTo>
                  <a:cubicBezTo>
                    <a:pt x="46153" y="177399"/>
                    <a:pt x="0" y="143506"/>
                    <a:pt x="0" y="88700"/>
                  </a:cubicBezTo>
                  <a:cubicBezTo>
                    <a:pt x="0" y="33893"/>
                    <a:pt x="33893" y="0"/>
                    <a:pt x="78604" y="0"/>
                  </a:cubicBezTo>
                  <a:cubicBezTo>
                    <a:pt x="123314" y="0"/>
                    <a:pt x="125478" y="17307"/>
                    <a:pt x="131247" y="23797"/>
                  </a:cubicBezTo>
                  <a:lnTo>
                    <a:pt x="132689" y="23797"/>
                  </a:lnTo>
                  <a:lnTo>
                    <a:pt x="132689" y="3606"/>
                  </a:lnTo>
                  <a:lnTo>
                    <a:pt x="166582" y="3606"/>
                  </a:lnTo>
                  <a:lnTo>
                    <a:pt x="166582" y="174515"/>
                  </a:lnTo>
                  <a:lnTo>
                    <a:pt x="132689" y="174515"/>
                  </a:lnTo>
                  <a:lnTo>
                    <a:pt x="132689" y="173794"/>
                  </a:lnTo>
                  <a:close/>
                  <a:moveTo>
                    <a:pt x="83652" y="146391"/>
                  </a:moveTo>
                  <a:cubicBezTo>
                    <a:pt x="111055" y="146391"/>
                    <a:pt x="133410" y="124035"/>
                    <a:pt x="133410" y="87979"/>
                  </a:cubicBezTo>
                  <a:cubicBezTo>
                    <a:pt x="133410" y="51922"/>
                    <a:pt x="111055" y="29567"/>
                    <a:pt x="83652" y="29567"/>
                  </a:cubicBezTo>
                  <a:cubicBezTo>
                    <a:pt x="56249" y="29567"/>
                    <a:pt x="33893" y="51922"/>
                    <a:pt x="33893" y="87979"/>
                  </a:cubicBezTo>
                  <a:cubicBezTo>
                    <a:pt x="33893" y="124035"/>
                    <a:pt x="56249" y="146391"/>
                    <a:pt x="83652" y="14639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" name="Google Shape;17;p8">
              <a:extLst>
                <a:ext uri="{FF2B5EF4-FFF2-40B4-BE49-F238E27FC236}">
                  <a16:creationId xmlns:a16="http://schemas.microsoft.com/office/drawing/2014/main" id="{8D0F0D31-9581-8A70-71D8-7802AD415137}"/>
                </a:ext>
              </a:extLst>
            </p:cNvPr>
            <p:cNvSpPr/>
            <p:nvPr/>
          </p:nvSpPr>
          <p:spPr>
            <a:xfrm>
              <a:off x="3920333" y="104564"/>
              <a:ext cx="100238" cy="218504"/>
            </a:xfrm>
            <a:custGeom>
              <a:avLst/>
              <a:gdLst/>
              <a:ahLst/>
              <a:cxnLst/>
              <a:rect l="l" t="t" r="r" b="b"/>
              <a:pathLst>
                <a:path w="100238" h="218504" extrusionOk="0">
                  <a:moveTo>
                    <a:pt x="27403" y="182447"/>
                  </a:moveTo>
                  <a:lnTo>
                    <a:pt x="27403" y="80046"/>
                  </a:lnTo>
                  <a:lnTo>
                    <a:pt x="0" y="80046"/>
                  </a:lnTo>
                  <a:lnTo>
                    <a:pt x="0" y="47595"/>
                  </a:lnTo>
                  <a:lnTo>
                    <a:pt x="27403" y="47595"/>
                  </a:lnTo>
                  <a:lnTo>
                    <a:pt x="27403" y="0"/>
                  </a:lnTo>
                  <a:lnTo>
                    <a:pt x="61297" y="0"/>
                  </a:lnTo>
                  <a:lnTo>
                    <a:pt x="61297" y="47595"/>
                  </a:lnTo>
                  <a:lnTo>
                    <a:pt x="100238" y="47595"/>
                  </a:lnTo>
                  <a:lnTo>
                    <a:pt x="100238" y="80046"/>
                  </a:lnTo>
                  <a:lnTo>
                    <a:pt x="61297" y="80046"/>
                  </a:lnTo>
                  <a:lnTo>
                    <a:pt x="61297" y="177399"/>
                  </a:lnTo>
                  <a:cubicBezTo>
                    <a:pt x="61297" y="183890"/>
                    <a:pt x="64902" y="187495"/>
                    <a:pt x="71393" y="187495"/>
                  </a:cubicBezTo>
                  <a:lnTo>
                    <a:pt x="100238" y="187495"/>
                  </a:lnTo>
                  <a:lnTo>
                    <a:pt x="100238" y="218504"/>
                  </a:lnTo>
                  <a:lnTo>
                    <a:pt x="64181" y="218504"/>
                  </a:lnTo>
                  <a:cubicBezTo>
                    <a:pt x="39662" y="218504"/>
                    <a:pt x="26682" y="204803"/>
                    <a:pt x="26682" y="182447"/>
                  </a:cubicBezTo>
                  <a:lnTo>
                    <a:pt x="27403" y="18244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8;p8">
              <a:extLst>
                <a:ext uri="{FF2B5EF4-FFF2-40B4-BE49-F238E27FC236}">
                  <a16:creationId xmlns:a16="http://schemas.microsoft.com/office/drawing/2014/main" id="{AE4B60A4-73F8-50D5-54A9-8DD01E69A57F}"/>
                </a:ext>
              </a:extLst>
            </p:cNvPr>
            <p:cNvSpPr/>
            <p:nvPr/>
          </p:nvSpPr>
          <p:spPr>
            <a:xfrm>
              <a:off x="4027061" y="148553"/>
              <a:ext cx="166582" cy="177399"/>
            </a:xfrm>
            <a:custGeom>
              <a:avLst/>
              <a:gdLst/>
              <a:ahLst/>
              <a:cxnLst/>
              <a:rect l="l" t="t" r="r" b="b"/>
              <a:pathLst>
                <a:path w="166582" h="177399" extrusionOk="0">
                  <a:moveTo>
                    <a:pt x="132689" y="173794"/>
                  </a:moveTo>
                  <a:lnTo>
                    <a:pt x="132689" y="155044"/>
                  </a:lnTo>
                  <a:lnTo>
                    <a:pt x="131247" y="155044"/>
                  </a:lnTo>
                  <a:cubicBezTo>
                    <a:pt x="127641" y="160092"/>
                    <a:pt x="111055" y="177399"/>
                    <a:pt x="78604" y="177399"/>
                  </a:cubicBezTo>
                  <a:cubicBezTo>
                    <a:pt x="46153" y="177399"/>
                    <a:pt x="0" y="143506"/>
                    <a:pt x="0" y="88700"/>
                  </a:cubicBezTo>
                  <a:cubicBezTo>
                    <a:pt x="0" y="33893"/>
                    <a:pt x="33893" y="0"/>
                    <a:pt x="78604" y="0"/>
                  </a:cubicBezTo>
                  <a:cubicBezTo>
                    <a:pt x="123314" y="0"/>
                    <a:pt x="125478" y="17307"/>
                    <a:pt x="131247" y="23797"/>
                  </a:cubicBezTo>
                  <a:lnTo>
                    <a:pt x="132689" y="23797"/>
                  </a:lnTo>
                  <a:lnTo>
                    <a:pt x="132689" y="3606"/>
                  </a:lnTo>
                  <a:lnTo>
                    <a:pt x="166582" y="3606"/>
                  </a:lnTo>
                  <a:lnTo>
                    <a:pt x="166582" y="174515"/>
                  </a:lnTo>
                  <a:lnTo>
                    <a:pt x="132689" y="174515"/>
                  </a:lnTo>
                  <a:lnTo>
                    <a:pt x="132689" y="173794"/>
                  </a:lnTo>
                  <a:close/>
                  <a:moveTo>
                    <a:pt x="83652" y="146391"/>
                  </a:moveTo>
                  <a:cubicBezTo>
                    <a:pt x="111055" y="146391"/>
                    <a:pt x="133410" y="124035"/>
                    <a:pt x="133410" y="87979"/>
                  </a:cubicBezTo>
                  <a:cubicBezTo>
                    <a:pt x="133410" y="51922"/>
                    <a:pt x="111055" y="29567"/>
                    <a:pt x="83652" y="29567"/>
                  </a:cubicBezTo>
                  <a:cubicBezTo>
                    <a:pt x="56248" y="29567"/>
                    <a:pt x="33893" y="51922"/>
                    <a:pt x="33893" y="87979"/>
                  </a:cubicBezTo>
                  <a:cubicBezTo>
                    <a:pt x="33893" y="124035"/>
                    <a:pt x="56248" y="146391"/>
                    <a:pt x="83652" y="14639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" name="Google Shape;19;p8">
              <a:extLst>
                <a:ext uri="{FF2B5EF4-FFF2-40B4-BE49-F238E27FC236}">
                  <a16:creationId xmlns:a16="http://schemas.microsoft.com/office/drawing/2014/main" id="{153E89FE-B771-1249-EBB0-6EF93231A3B6}"/>
                </a:ext>
              </a:extLst>
            </p:cNvPr>
            <p:cNvSpPr/>
            <p:nvPr/>
          </p:nvSpPr>
          <p:spPr>
            <a:xfrm>
              <a:off x="4220325" y="82930"/>
              <a:ext cx="266099" cy="239417"/>
            </a:xfrm>
            <a:custGeom>
              <a:avLst/>
              <a:gdLst/>
              <a:ahLst/>
              <a:cxnLst/>
              <a:rect l="l" t="t" r="r" b="b"/>
              <a:pathLst>
                <a:path w="266099" h="239417" extrusionOk="0">
                  <a:moveTo>
                    <a:pt x="238696" y="36057"/>
                  </a:moveTo>
                  <a:lnTo>
                    <a:pt x="224994" y="36057"/>
                  </a:lnTo>
                  <a:lnTo>
                    <a:pt x="153602" y="239417"/>
                  </a:lnTo>
                  <a:lnTo>
                    <a:pt x="112497" y="239417"/>
                  </a:lnTo>
                  <a:lnTo>
                    <a:pt x="41105" y="36057"/>
                  </a:lnTo>
                  <a:lnTo>
                    <a:pt x="27403" y="36057"/>
                  </a:lnTo>
                  <a:lnTo>
                    <a:pt x="27403" y="239417"/>
                  </a:lnTo>
                  <a:lnTo>
                    <a:pt x="0" y="239417"/>
                  </a:lnTo>
                  <a:lnTo>
                    <a:pt x="0" y="0"/>
                  </a:lnTo>
                  <a:lnTo>
                    <a:pt x="56249" y="0"/>
                  </a:lnTo>
                  <a:lnTo>
                    <a:pt x="129804" y="208408"/>
                  </a:lnTo>
                  <a:lnTo>
                    <a:pt x="136295" y="208408"/>
                  </a:lnTo>
                  <a:lnTo>
                    <a:pt x="209851" y="0"/>
                  </a:lnTo>
                  <a:lnTo>
                    <a:pt x="238696" y="0"/>
                  </a:lnTo>
                  <a:lnTo>
                    <a:pt x="238696" y="36057"/>
                  </a:lnTo>
                  <a:lnTo>
                    <a:pt x="238696" y="36057"/>
                  </a:lnTo>
                  <a:close/>
                  <a:moveTo>
                    <a:pt x="238696" y="239417"/>
                  </a:moveTo>
                  <a:lnTo>
                    <a:pt x="238696" y="36057"/>
                  </a:lnTo>
                  <a:lnTo>
                    <a:pt x="266099" y="36057"/>
                  </a:lnTo>
                  <a:lnTo>
                    <a:pt x="266099" y="239417"/>
                  </a:lnTo>
                  <a:lnTo>
                    <a:pt x="238696" y="23941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20;p8">
              <a:extLst>
                <a:ext uri="{FF2B5EF4-FFF2-40B4-BE49-F238E27FC236}">
                  <a16:creationId xmlns:a16="http://schemas.microsoft.com/office/drawing/2014/main" id="{2CE36DFE-9709-3F0A-711C-2970D93BBE8A}"/>
                </a:ext>
              </a:extLst>
            </p:cNvPr>
            <p:cNvSpPr/>
            <p:nvPr/>
          </p:nvSpPr>
          <p:spPr>
            <a:xfrm>
              <a:off x="4503010" y="148553"/>
              <a:ext cx="160813" cy="177399"/>
            </a:xfrm>
            <a:custGeom>
              <a:avLst/>
              <a:gdLst/>
              <a:ahLst/>
              <a:cxnLst/>
              <a:rect l="l" t="t" r="r" b="b"/>
              <a:pathLst>
                <a:path w="160813" h="177399" extrusionOk="0">
                  <a:moveTo>
                    <a:pt x="133410" y="149996"/>
                  </a:moveTo>
                  <a:cubicBezTo>
                    <a:pt x="119709" y="167303"/>
                    <a:pt x="103122" y="177399"/>
                    <a:pt x="78604" y="177399"/>
                  </a:cubicBezTo>
                  <a:cubicBezTo>
                    <a:pt x="33893" y="177399"/>
                    <a:pt x="0" y="141343"/>
                    <a:pt x="0" y="88700"/>
                  </a:cubicBezTo>
                  <a:cubicBezTo>
                    <a:pt x="0" y="36057"/>
                    <a:pt x="33893" y="0"/>
                    <a:pt x="78604" y="0"/>
                  </a:cubicBezTo>
                  <a:cubicBezTo>
                    <a:pt x="123314" y="0"/>
                    <a:pt x="119709" y="10096"/>
                    <a:pt x="133410" y="27403"/>
                  </a:cubicBezTo>
                  <a:lnTo>
                    <a:pt x="134852" y="27403"/>
                  </a:lnTo>
                  <a:lnTo>
                    <a:pt x="134852" y="3606"/>
                  </a:lnTo>
                  <a:lnTo>
                    <a:pt x="160813" y="3606"/>
                  </a:lnTo>
                  <a:lnTo>
                    <a:pt x="160813" y="174515"/>
                  </a:lnTo>
                  <a:lnTo>
                    <a:pt x="134852" y="174515"/>
                  </a:lnTo>
                  <a:lnTo>
                    <a:pt x="134852" y="150717"/>
                  </a:lnTo>
                  <a:lnTo>
                    <a:pt x="133410" y="150717"/>
                  </a:lnTo>
                  <a:lnTo>
                    <a:pt x="133410" y="149996"/>
                  </a:lnTo>
                  <a:close/>
                  <a:moveTo>
                    <a:pt x="25961" y="88700"/>
                  </a:moveTo>
                  <a:cubicBezTo>
                    <a:pt x="25961" y="127641"/>
                    <a:pt x="51922" y="153602"/>
                    <a:pt x="80767" y="153602"/>
                  </a:cubicBezTo>
                  <a:cubicBezTo>
                    <a:pt x="109612" y="153602"/>
                    <a:pt x="135573" y="127641"/>
                    <a:pt x="135573" y="88700"/>
                  </a:cubicBezTo>
                  <a:cubicBezTo>
                    <a:pt x="135573" y="49758"/>
                    <a:pt x="109612" y="23797"/>
                    <a:pt x="80767" y="23797"/>
                  </a:cubicBezTo>
                  <a:cubicBezTo>
                    <a:pt x="51922" y="23797"/>
                    <a:pt x="25961" y="49758"/>
                    <a:pt x="25961" y="8870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Google Shape;21;p8">
              <a:extLst>
                <a:ext uri="{FF2B5EF4-FFF2-40B4-BE49-F238E27FC236}">
                  <a16:creationId xmlns:a16="http://schemas.microsoft.com/office/drawing/2014/main" id="{B81ABCFF-9A4B-7D36-AEC9-990B0E299A77}"/>
                </a:ext>
              </a:extLst>
            </p:cNvPr>
            <p:cNvSpPr/>
            <p:nvPr/>
          </p:nvSpPr>
          <p:spPr>
            <a:xfrm>
              <a:off x="4681852" y="147832"/>
              <a:ext cx="134852" cy="178120"/>
            </a:xfrm>
            <a:custGeom>
              <a:avLst/>
              <a:gdLst/>
              <a:ahLst/>
              <a:cxnLst/>
              <a:rect l="l" t="t" r="r" b="b"/>
              <a:pathLst>
                <a:path w="134852" h="178120" extrusionOk="0">
                  <a:moveTo>
                    <a:pt x="25240" y="125478"/>
                  </a:moveTo>
                  <a:cubicBezTo>
                    <a:pt x="25240" y="140621"/>
                    <a:pt x="40384" y="154323"/>
                    <a:pt x="67787" y="154323"/>
                  </a:cubicBezTo>
                  <a:cubicBezTo>
                    <a:pt x="95190" y="154323"/>
                    <a:pt x="108892" y="142064"/>
                    <a:pt x="108892" y="128362"/>
                  </a:cubicBezTo>
                  <a:cubicBezTo>
                    <a:pt x="108892" y="114661"/>
                    <a:pt x="100238" y="106728"/>
                    <a:pt x="80046" y="102401"/>
                  </a:cubicBezTo>
                  <a:lnTo>
                    <a:pt x="51201" y="97353"/>
                  </a:lnTo>
                  <a:cubicBezTo>
                    <a:pt x="20192" y="92305"/>
                    <a:pt x="3606" y="77162"/>
                    <a:pt x="3606" y="49758"/>
                  </a:cubicBezTo>
                  <a:cubicBezTo>
                    <a:pt x="3606" y="22355"/>
                    <a:pt x="24519" y="0"/>
                    <a:pt x="67066" y="0"/>
                  </a:cubicBezTo>
                  <a:cubicBezTo>
                    <a:pt x="109613" y="0"/>
                    <a:pt x="133410" y="25961"/>
                    <a:pt x="133410" y="52643"/>
                  </a:cubicBezTo>
                  <a:lnTo>
                    <a:pt x="107449" y="52643"/>
                  </a:lnTo>
                  <a:cubicBezTo>
                    <a:pt x="107449" y="37499"/>
                    <a:pt x="92306" y="23797"/>
                    <a:pt x="66345" y="23797"/>
                  </a:cubicBezTo>
                  <a:cubicBezTo>
                    <a:pt x="40384" y="23797"/>
                    <a:pt x="28845" y="36057"/>
                    <a:pt x="28845" y="49758"/>
                  </a:cubicBezTo>
                  <a:cubicBezTo>
                    <a:pt x="28845" y="63460"/>
                    <a:pt x="35336" y="69950"/>
                    <a:pt x="56249" y="73556"/>
                  </a:cubicBezTo>
                  <a:lnTo>
                    <a:pt x="85094" y="78604"/>
                  </a:lnTo>
                  <a:cubicBezTo>
                    <a:pt x="118987" y="85094"/>
                    <a:pt x="134852" y="100959"/>
                    <a:pt x="134852" y="128362"/>
                  </a:cubicBezTo>
                  <a:cubicBezTo>
                    <a:pt x="134852" y="155765"/>
                    <a:pt x="113218" y="178121"/>
                    <a:pt x="68508" y="178121"/>
                  </a:cubicBezTo>
                  <a:cubicBezTo>
                    <a:pt x="23798" y="178121"/>
                    <a:pt x="0" y="152160"/>
                    <a:pt x="0" y="125478"/>
                  </a:cubicBezTo>
                  <a:lnTo>
                    <a:pt x="25961" y="125478"/>
                  </a:lnTo>
                  <a:lnTo>
                    <a:pt x="25240" y="12547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22;p8">
              <a:extLst>
                <a:ext uri="{FF2B5EF4-FFF2-40B4-BE49-F238E27FC236}">
                  <a16:creationId xmlns:a16="http://schemas.microsoft.com/office/drawing/2014/main" id="{ECF0B823-D7B5-F18E-A736-388135B9960B}"/>
                </a:ext>
              </a:extLst>
            </p:cNvPr>
            <p:cNvSpPr/>
            <p:nvPr/>
          </p:nvSpPr>
          <p:spPr>
            <a:xfrm>
              <a:off x="4819589" y="104564"/>
              <a:ext cx="92305" cy="217782"/>
            </a:xfrm>
            <a:custGeom>
              <a:avLst/>
              <a:gdLst/>
              <a:ahLst/>
              <a:cxnLst/>
              <a:rect l="l" t="t" r="r" b="b"/>
              <a:pathLst>
                <a:path w="92305" h="217782" extrusionOk="0">
                  <a:moveTo>
                    <a:pt x="27403" y="71392"/>
                  </a:moveTo>
                  <a:lnTo>
                    <a:pt x="0" y="71392"/>
                  </a:lnTo>
                  <a:lnTo>
                    <a:pt x="0" y="47595"/>
                  </a:lnTo>
                  <a:lnTo>
                    <a:pt x="27403" y="47595"/>
                  </a:lnTo>
                  <a:lnTo>
                    <a:pt x="27403" y="0"/>
                  </a:lnTo>
                  <a:lnTo>
                    <a:pt x="53364" y="0"/>
                  </a:lnTo>
                  <a:lnTo>
                    <a:pt x="53364" y="47595"/>
                  </a:lnTo>
                  <a:lnTo>
                    <a:pt x="92305" y="47595"/>
                  </a:lnTo>
                  <a:lnTo>
                    <a:pt x="92305" y="71392"/>
                  </a:lnTo>
                  <a:lnTo>
                    <a:pt x="53364" y="71392"/>
                  </a:lnTo>
                  <a:lnTo>
                    <a:pt x="53364" y="183890"/>
                  </a:lnTo>
                  <a:cubicBezTo>
                    <a:pt x="53364" y="190380"/>
                    <a:pt x="56970" y="193986"/>
                    <a:pt x="63460" y="193986"/>
                  </a:cubicBezTo>
                  <a:lnTo>
                    <a:pt x="92305" y="193986"/>
                  </a:lnTo>
                  <a:lnTo>
                    <a:pt x="92305" y="217783"/>
                  </a:lnTo>
                  <a:lnTo>
                    <a:pt x="58412" y="217783"/>
                  </a:lnTo>
                  <a:cubicBezTo>
                    <a:pt x="38941" y="217783"/>
                    <a:pt x="27403" y="206245"/>
                    <a:pt x="27403" y="188938"/>
                  </a:cubicBezTo>
                  <a:lnTo>
                    <a:pt x="27403" y="7139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3;p8">
              <a:extLst>
                <a:ext uri="{FF2B5EF4-FFF2-40B4-BE49-F238E27FC236}">
                  <a16:creationId xmlns:a16="http://schemas.microsoft.com/office/drawing/2014/main" id="{70601869-32CC-1B6E-F2F5-E6DBED2ACE61}"/>
                </a:ext>
              </a:extLst>
            </p:cNvPr>
            <p:cNvSpPr/>
            <p:nvPr/>
          </p:nvSpPr>
          <p:spPr>
            <a:xfrm>
              <a:off x="4927038" y="148553"/>
              <a:ext cx="160813" cy="177399"/>
            </a:xfrm>
            <a:custGeom>
              <a:avLst/>
              <a:gdLst/>
              <a:ahLst/>
              <a:cxnLst/>
              <a:rect l="l" t="t" r="r" b="b"/>
              <a:pathLst>
                <a:path w="160813" h="177399" extrusionOk="0">
                  <a:moveTo>
                    <a:pt x="155765" y="126199"/>
                  </a:moveTo>
                  <a:cubicBezTo>
                    <a:pt x="143506" y="158650"/>
                    <a:pt x="118266" y="177399"/>
                    <a:pt x="82209" y="177399"/>
                  </a:cubicBezTo>
                  <a:cubicBezTo>
                    <a:pt x="46153" y="177399"/>
                    <a:pt x="0" y="141343"/>
                    <a:pt x="0" y="88700"/>
                  </a:cubicBezTo>
                  <a:cubicBezTo>
                    <a:pt x="0" y="36057"/>
                    <a:pt x="36057" y="0"/>
                    <a:pt x="82209" y="0"/>
                  </a:cubicBezTo>
                  <a:cubicBezTo>
                    <a:pt x="128362" y="0"/>
                    <a:pt x="160813" y="33893"/>
                    <a:pt x="160813" y="82209"/>
                  </a:cubicBezTo>
                  <a:cubicBezTo>
                    <a:pt x="160813" y="130526"/>
                    <a:pt x="160813" y="93748"/>
                    <a:pt x="160092" y="96632"/>
                  </a:cubicBezTo>
                  <a:lnTo>
                    <a:pt x="160092" y="100959"/>
                  </a:lnTo>
                  <a:lnTo>
                    <a:pt x="25961" y="100959"/>
                  </a:lnTo>
                  <a:cubicBezTo>
                    <a:pt x="29567" y="133410"/>
                    <a:pt x="53364" y="153602"/>
                    <a:pt x="82209" y="153602"/>
                  </a:cubicBezTo>
                  <a:cubicBezTo>
                    <a:pt x="111055" y="153602"/>
                    <a:pt x="119709" y="143506"/>
                    <a:pt x="128362" y="126199"/>
                  </a:cubicBezTo>
                  <a:lnTo>
                    <a:pt x="155765" y="126199"/>
                  </a:lnTo>
                  <a:lnTo>
                    <a:pt x="155765" y="126199"/>
                  </a:lnTo>
                  <a:close/>
                  <a:moveTo>
                    <a:pt x="25961" y="76440"/>
                  </a:moveTo>
                  <a:lnTo>
                    <a:pt x="135574" y="76440"/>
                  </a:lnTo>
                  <a:cubicBezTo>
                    <a:pt x="134131" y="45432"/>
                    <a:pt x="111776" y="23797"/>
                    <a:pt x="82931" y="23797"/>
                  </a:cubicBezTo>
                  <a:cubicBezTo>
                    <a:pt x="54085" y="23797"/>
                    <a:pt x="30288" y="45432"/>
                    <a:pt x="26682" y="76440"/>
                  </a:cubicBezTo>
                  <a:lnTo>
                    <a:pt x="25961" y="7644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4;p8">
              <a:extLst>
                <a:ext uri="{FF2B5EF4-FFF2-40B4-BE49-F238E27FC236}">
                  <a16:creationId xmlns:a16="http://schemas.microsoft.com/office/drawing/2014/main" id="{86BD4A82-3639-D917-1DE2-9755951D64C5}"/>
                </a:ext>
              </a:extLst>
            </p:cNvPr>
            <p:cNvSpPr/>
            <p:nvPr/>
          </p:nvSpPr>
          <p:spPr>
            <a:xfrm>
              <a:off x="5108043" y="151438"/>
              <a:ext cx="88699" cy="170909"/>
            </a:xfrm>
            <a:custGeom>
              <a:avLst/>
              <a:gdLst/>
              <a:ahLst/>
              <a:cxnLst/>
              <a:rect l="l" t="t" r="r" b="b"/>
              <a:pathLst>
                <a:path w="88699" h="170909" extrusionOk="0">
                  <a:moveTo>
                    <a:pt x="25961" y="0"/>
                  </a:moveTo>
                  <a:lnTo>
                    <a:pt x="88700" y="0"/>
                  </a:lnTo>
                  <a:lnTo>
                    <a:pt x="88700" y="24519"/>
                  </a:lnTo>
                  <a:lnTo>
                    <a:pt x="25961" y="24519"/>
                  </a:lnTo>
                  <a:lnTo>
                    <a:pt x="25961" y="170909"/>
                  </a:lnTo>
                  <a:lnTo>
                    <a:pt x="0" y="170909"/>
                  </a:lnTo>
                  <a:lnTo>
                    <a:pt x="0" y="24519"/>
                  </a:lnTo>
                  <a:lnTo>
                    <a:pt x="25961" y="24519"/>
                  </a:lnTo>
                  <a:cubicBezTo>
                    <a:pt x="25961" y="24519"/>
                    <a:pt x="25961" y="0"/>
                    <a:pt x="259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5;p8">
              <a:extLst>
                <a:ext uri="{FF2B5EF4-FFF2-40B4-BE49-F238E27FC236}">
                  <a16:creationId xmlns:a16="http://schemas.microsoft.com/office/drawing/2014/main" id="{24981C5A-C2EE-479A-29F6-2D8059241BAC}"/>
                </a:ext>
              </a:extLst>
            </p:cNvPr>
            <p:cNvSpPr/>
            <p:nvPr/>
          </p:nvSpPr>
          <p:spPr>
            <a:xfrm>
              <a:off x="5200348" y="147832"/>
              <a:ext cx="134852" cy="178120"/>
            </a:xfrm>
            <a:custGeom>
              <a:avLst/>
              <a:gdLst/>
              <a:ahLst/>
              <a:cxnLst/>
              <a:rect l="l" t="t" r="r" b="b"/>
              <a:pathLst>
                <a:path w="134852" h="178120" extrusionOk="0">
                  <a:moveTo>
                    <a:pt x="25240" y="125478"/>
                  </a:moveTo>
                  <a:cubicBezTo>
                    <a:pt x="25240" y="140621"/>
                    <a:pt x="40384" y="154323"/>
                    <a:pt x="67787" y="154323"/>
                  </a:cubicBezTo>
                  <a:cubicBezTo>
                    <a:pt x="95190" y="154323"/>
                    <a:pt x="108892" y="142064"/>
                    <a:pt x="108892" y="128362"/>
                  </a:cubicBezTo>
                  <a:cubicBezTo>
                    <a:pt x="108892" y="114661"/>
                    <a:pt x="100238" y="106728"/>
                    <a:pt x="80046" y="102401"/>
                  </a:cubicBezTo>
                  <a:lnTo>
                    <a:pt x="51201" y="97353"/>
                  </a:lnTo>
                  <a:cubicBezTo>
                    <a:pt x="20192" y="92305"/>
                    <a:pt x="3606" y="77162"/>
                    <a:pt x="3606" y="49758"/>
                  </a:cubicBezTo>
                  <a:cubicBezTo>
                    <a:pt x="3606" y="22355"/>
                    <a:pt x="24519" y="0"/>
                    <a:pt x="67066" y="0"/>
                  </a:cubicBezTo>
                  <a:cubicBezTo>
                    <a:pt x="109613" y="0"/>
                    <a:pt x="133410" y="25961"/>
                    <a:pt x="133410" y="52643"/>
                  </a:cubicBezTo>
                  <a:lnTo>
                    <a:pt x="107449" y="52643"/>
                  </a:lnTo>
                  <a:cubicBezTo>
                    <a:pt x="107449" y="37499"/>
                    <a:pt x="92305" y="23797"/>
                    <a:pt x="66345" y="23797"/>
                  </a:cubicBezTo>
                  <a:cubicBezTo>
                    <a:pt x="40384" y="23797"/>
                    <a:pt x="28845" y="36057"/>
                    <a:pt x="28845" y="49758"/>
                  </a:cubicBezTo>
                  <a:cubicBezTo>
                    <a:pt x="28845" y="63460"/>
                    <a:pt x="35336" y="69950"/>
                    <a:pt x="56248" y="73556"/>
                  </a:cubicBezTo>
                  <a:lnTo>
                    <a:pt x="85094" y="78604"/>
                  </a:lnTo>
                  <a:cubicBezTo>
                    <a:pt x="118987" y="85094"/>
                    <a:pt x="134852" y="100959"/>
                    <a:pt x="134852" y="128362"/>
                  </a:cubicBezTo>
                  <a:cubicBezTo>
                    <a:pt x="134852" y="155765"/>
                    <a:pt x="113218" y="178121"/>
                    <a:pt x="68508" y="178121"/>
                  </a:cubicBezTo>
                  <a:cubicBezTo>
                    <a:pt x="23797" y="178121"/>
                    <a:pt x="0" y="152160"/>
                    <a:pt x="0" y="125478"/>
                  </a:cubicBezTo>
                  <a:lnTo>
                    <a:pt x="25961" y="125478"/>
                  </a:lnTo>
                  <a:lnTo>
                    <a:pt x="25240" y="12547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572520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3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egnaposto testo 2">
            <a:extLst>
              <a:ext uri="{FF2B5EF4-FFF2-40B4-BE49-F238E27FC236}">
                <a16:creationId xmlns:a16="http://schemas.microsoft.com/office/drawing/2014/main" id="{CE45B28B-E727-CC5D-EB5A-5B6D45FA95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8039" y="1498760"/>
            <a:ext cx="9042935" cy="4054833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34" name="Titolo 1">
            <a:extLst>
              <a:ext uri="{FF2B5EF4-FFF2-40B4-BE49-F238E27FC236}">
                <a16:creationId xmlns:a16="http://schemas.microsoft.com/office/drawing/2014/main" id="{AAD9B929-C047-C1C0-6E67-8CB53588F52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68039" y="502995"/>
            <a:ext cx="9042935" cy="912177"/>
          </a:xfrm>
          <a:ln>
            <a:noFill/>
          </a:ln>
        </p:spPr>
        <p:txBody>
          <a:bodyPr anchor="ctr"/>
          <a:lstStyle>
            <a:lvl1pPr algn="l">
              <a:defRPr sz="5000" b="1">
                <a:solidFill>
                  <a:srgbClr val="080808"/>
                </a:solidFill>
                <a:effectLst/>
                <a:latin typeface="Geist Bold" pitchFamily="50" charset="0"/>
                <a:ea typeface="Geist Bold" pitchFamily="50" charset="0"/>
                <a:cs typeface="Geist Bold" pitchFamily="50" charset="0"/>
              </a:defRPr>
            </a:lvl1pPr>
          </a:lstStyle>
          <a:p>
            <a:r>
              <a:rPr lang="it-IT" dirty="0"/>
              <a:t>Titolo</a:t>
            </a:r>
          </a:p>
        </p:txBody>
      </p:sp>
      <p:sp>
        <p:nvSpPr>
          <p:cNvPr id="2" name="Google Shape;29;p9">
            <a:extLst>
              <a:ext uri="{FF2B5EF4-FFF2-40B4-BE49-F238E27FC236}">
                <a16:creationId xmlns:a16="http://schemas.microsoft.com/office/drawing/2014/main" id="{2652CF9E-74BC-BB09-D1BF-EAE4558FDA69}"/>
              </a:ext>
            </a:extLst>
          </p:cNvPr>
          <p:cNvSpPr/>
          <p:nvPr userDrawn="1"/>
        </p:nvSpPr>
        <p:spPr>
          <a:xfrm>
            <a:off x="0" y="2897298"/>
            <a:ext cx="9100109" cy="9279836"/>
          </a:xfrm>
          <a:custGeom>
            <a:avLst/>
            <a:gdLst/>
            <a:ahLst/>
            <a:cxnLst/>
            <a:rect l="l" t="t" r="r" b="b"/>
            <a:pathLst>
              <a:path w="401672" h="409605" extrusionOk="0">
                <a:moveTo>
                  <a:pt x="401673" y="204803"/>
                </a:moveTo>
                <a:cubicBezTo>
                  <a:pt x="401673" y="318021"/>
                  <a:pt x="310088" y="409605"/>
                  <a:pt x="196870" y="409605"/>
                </a:cubicBezTo>
                <a:lnTo>
                  <a:pt x="0" y="409605"/>
                </a:lnTo>
                <a:lnTo>
                  <a:pt x="0" y="0"/>
                </a:lnTo>
                <a:lnTo>
                  <a:pt x="196870" y="0"/>
                </a:lnTo>
                <a:cubicBezTo>
                  <a:pt x="310088" y="0"/>
                  <a:pt x="401673" y="91584"/>
                  <a:pt x="401673" y="204803"/>
                </a:cubicBezTo>
                <a:close/>
                <a:moveTo>
                  <a:pt x="240859" y="64181"/>
                </a:moveTo>
                <a:lnTo>
                  <a:pt x="60575" y="64181"/>
                </a:lnTo>
                <a:lnTo>
                  <a:pt x="60575" y="114661"/>
                </a:lnTo>
                <a:lnTo>
                  <a:pt x="240859" y="114661"/>
                </a:lnTo>
                <a:lnTo>
                  <a:pt x="240859" y="174515"/>
                </a:lnTo>
                <a:lnTo>
                  <a:pt x="60575" y="174515"/>
                </a:lnTo>
                <a:lnTo>
                  <a:pt x="60575" y="234369"/>
                </a:lnTo>
                <a:lnTo>
                  <a:pt x="240859" y="234369"/>
                </a:lnTo>
                <a:lnTo>
                  <a:pt x="240859" y="294223"/>
                </a:lnTo>
                <a:lnTo>
                  <a:pt x="60575" y="294223"/>
                </a:lnTo>
                <a:lnTo>
                  <a:pt x="60575" y="344703"/>
                </a:lnTo>
                <a:lnTo>
                  <a:pt x="240859" y="344703"/>
                </a:lnTo>
                <a:lnTo>
                  <a:pt x="240859" y="294223"/>
                </a:lnTo>
                <a:lnTo>
                  <a:pt x="300714" y="294223"/>
                </a:lnTo>
                <a:lnTo>
                  <a:pt x="300714" y="234369"/>
                </a:lnTo>
                <a:lnTo>
                  <a:pt x="240859" y="234369"/>
                </a:lnTo>
                <a:lnTo>
                  <a:pt x="240859" y="174515"/>
                </a:lnTo>
                <a:lnTo>
                  <a:pt x="300714" y="174515"/>
                </a:lnTo>
                <a:lnTo>
                  <a:pt x="300714" y="114661"/>
                </a:lnTo>
                <a:lnTo>
                  <a:pt x="240859" y="114661"/>
                </a:lnTo>
                <a:lnTo>
                  <a:pt x="240859" y="64181"/>
                </a:lnTo>
                <a:close/>
              </a:path>
            </a:pathLst>
          </a:custGeom>
          <a:solidFill>
            <a:srgbClr val="E5E5E5">
              <a:alpha val="33725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Google Shape;31;p9" descr="Immagine che contiene Elementi grafici, grafica, Carattere, schermata&#10;&#10;Descrizione generata automaticamente">
            <a:extLst>
              <a:ext uri="{FF2B5EF4-FFF2-40B4-BE49-F238E27FC236}">
                <a16:creationId xmlns:a16="http://schemas.microsoft.com/office/drawing/2014/main" id="{5469B417-26BF-303D-CC4F-2DE3EEB09E51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9716262" y="502995"/>
            <a:ext cx="1893825" cy="33818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30;p9">
            <a:extLst>
              <a:ext uri="{FF2B5EF4-FFF2-40B4-BE49-F238E27FC236}">
                <a16:creationId xmlns:a16="http://schemas.microsoft.com/office/drawing/2014/main" id="{3DC58D4A-6EA4-26AF-8AD5-3398BC773916}"/>
              </a:ext>
            </a:extLst>
          </p:cNvPr>
          <p:cNvSpPr txBox="1"/>
          <p:nvPr userDrawn="1"/>
        </p:nvSpPr>
        <p:spPr>
          <a:xfrm>
            <a:off x="443924" y="6180054"/>
            <a:ext cx="8506296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1">
                <a:solidFill>
                  <a:schemeClr val="dk2"/>
                </a:solidFill>
                <a:latin typeface="Geist Mono" pitchFamily="50" charset="0"/>
                <a:ea typeface="Geist Mono" pitchFamily="50" charset="0"/>
                <a:cs typeface="Geist Mono" pitchFamily="50" charset="0"/>
                <a:sym typeface="Arial"/>
              </a:rPr>
              <a:t>RAG – Retrieval Augmented Generation</a:t>
            </a:r>
            <a:endParaRPr sz="1200" dirty="0">
              <a:latin typeface="Geist Mono" pitchFamily="50" charset="0"/>
              <a:ea typeface="Geist Mono" pitchFamily="50" charset="0"/>
              <a:cs typeface="Geist Mono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75645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29;p9">
            <a:extLst>
              <a:ext uri="{FF2B5EF4-FFF2-40B4-BE49-F238E27FC236}">
                <a16:creationId xmlns:a16="http://schemas.microsoft.com/office/drawing/2014/main" id="{A8DA8B48-A819-A329-AA79-21074FC3AC59}"/>
              </a:ext>
            </a:extLst>
          </p:cNvPr>
          <p:cNvSpPr/>
          <p:nvPr userDrawn="1"/>
        </p:nvSpPr>
        <p:spPr>
          <a:xfrm>
            <a:off x="0" y="2388624"/>
            <a:ext cx="9100109" cy="9279836"/>
          </a:xfrm>
          <a:custGeom>
            <a:avLst/>
            <a:gdLst/>
            <a:ahLst/>
            <a:cxnLst/>
            <a:rect l="l" t="t" r="r" b="b"/>
            <a:pathLst>
              <a:path w="401672" h="409605" extrusionOk="0">
                <a:moveTo>
                  <a:pt x="401673" y="204803"/>
                </a:moveTo>
                <a:cubicBezTo>
                  <a:pt x="401673" y="318021"/>
                  <a:pt x="310088" y="409605"/>
                  <a:pt x="196870" y="409605"/>
                </a:cubicBezTo>
                <a:lnTo>
                  <a:pt x="0" y="409605"/>
                </a:lnTo>
                <a:lnTo>
                  <a:pt x="0" y="0"/>
                </a:lnTo>
                <a:lnTo>
                  <a:pt x="196870" y="0"/>
                </a:lnTo>
                <a:cubicBezTo>
                  <a:pt x="310088" y="0"/>
                  <a:pt x="401673" y="91584"/>
                  <a:pt x="401673" y="204803"/>
                </a:cubicBezTo>
                <a:close/>
                <a:moveTo>
                  <a:pt x="240859" y="64181"/>
                </a:moveTo>
                <a:lnTo>
                  <a:pt x="60575" y="64181"/>
                </a:lnTo>
                <a:lnTo>
                  <a:pt x="60575" y="114661"/>
                </a:lnTo>
                <a:lnTo>
                  <a:pt x="240859" y="114661"/>
                </a:lnTo>
                <a:lnTo>
                  <a:pt x="240859" y="174515"/>
                </a:lnTo>
                <a:lnTo>
                  <a:pt x="60575" y="174515"/>
                </a:lnTo>
                <a:lnTo>
                  <a:pt x="60575" y="234369"/>
                </a:lnTo>
                <a:lnTo>
                  <a:pt x="240859" y="234369"/>
                </a:lnTo>
                <a:lnTo>
                  <a:pt x="240859" y="294223"/>
                </a:lnTo>
                <a:lnTo>
                  <a:pt x="60575" y="294223"/>
                </a:lnTo>
                <a:lnTo>
                  <a:pt x="60575" y="344703"/>
                </a:lnTo>
                <a:lnTo>
                  <a:pt x="240859" y="344703"/>
                </a:lnTo>
                <a:lnTo>
                  <a:pt x="240859" y="294223"/>
                </a:lnTo>
                <a:lnTo>
                  <a:pt x="300714" y="294223"/>
                </a:lnTo>
                <a:lnTo>
                  <a:pt x="300714" y="234369"/>
                </a:lnTo>
                <a:lnTo>
                  <a:pt x="240859" y="234369"/>
                </a:lnTo>
                <a:lnTo>
                  <a:pt x="240859" y="174515"/>
                </a:lnTo>
                <a:lnTo>
                  <a:pt x="300714" y="174515"/>
                </a:lnTo>
                <a:lnTo>
                  <a:pt x="300714" y="114661"/>
                </a:lnTo>
                <a:lnTo>
                  <a:pt x="240859" y="114661"/>
                </a:lnTo>
                <a:lnTo>
                  <a:pt x="240859" y="64181"/>
                </a:lnTo>
                <a:close/>
              </a:path>
            </a:pathLst>
          </a:custGeom>
          <a:solidFill>
            <a:srgbClr val="E5E5E5">
              <a:alpha val="33725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6953CFD8-6EB3-F665-1ECD-573D6A7CBCC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81913" y="502995"/>
            <a:ext cx="8220850" cy="912177"/>
          </a:xfrm>
          <a:ln>
            <a:noFill/>
          </a:ln>
        </p:spPr>
        <p:txBody>
          <a:bodyPr anchor="ctr"/>
          <a:lstStyle>
            <a:lvl1pPr algn="l">
              <a:defRPr sz="5000" b="1">
                <a:solidFill>
                  <a:srgbClr val="080808"/>
                </a:solidFill>
                <a:effectLst/>
                <a:latin typeface="Geist Bold" pitchFamily="50" charset="0"/>
                <a:ea typeface="Geist Bold" pitchFamily="50" charset="0"/>
                <a:cs typeface="Geist Bold" pitchFamily="50" charset="0"/>
              </a:defRPr>
            </a:lvl1pPr>
          </a:lstStyle>
          <a:p>
            <a:r>
              <a:rPr lang="it-IT" dirty="0"/>
              <a:t>Titolo</a:t>
            </a:r>
          </a:p>
        </p:txBody>
      </p:sp>
      <p:sp>
        <p:nvSpPr>
          <p:cNvPr id="32" name="Segnaposto contenuto 2">
            <a:extLst>
              <a:ext uri="{FF2B5EF4-FFF2-40B4-BE49-F238E27FC236}">
                <a16:creationId xmlns:a16="http://schemas.microsoft.com/office/drawing/2014/main" id="{E5015392-7F5E-F887-6032-7EC4B0EC1B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913" y="1477895"/>
            <a:ext cx="8220850" cy="385641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000"/>
            </a:lvl1pPr>
            <a:lvl2pPr>
              <a:lnSpc>
                <a:spcPct val="100000"/>
              </a:lnSpc>
              <a:defRPr sz="18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AE9DB2CD-7082-874E-3B5F-EBF4891E8EE3}"/>
              </a:ext>
            </a:extLst>
          </p:cNvPr>
          <p:cNvSpPr/>
          <p:nvPr userDrawn="1"/>
        </p:nvSpPr>
        <p:spPr>
          <a:xfrm>
            <a:off x="0" y="6355005"/>
            <a:ext cx="12192000" cy="502995"/>
          </a:xfrm>
          <a:prstGeom prst="rect">
            <a:avLst/>
          </a:prstGeom>
          <a:solidFill>
            <a:schemeClr val="tx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it-IT"/>
          </a:p>
        </p:txBody>
      </p:sp>
      <p:sp>
        <p:nvSpPr>
          <p:cNvPr id="18" name="Google Shape;30;p9">
            <a:extLst>
              <a:ext uri="{FF2B5EF4-FFF2-40B4-BE49-F238E27FC236}">
                <a16:creationId xmlns:a16="http://schemas.microsoft.com/office/drawing/2014/main" id="{8E42D231-6D01-59C9-255B-B4951C0D77DC}"/>
              </a:ext>
            </a:extLst>
          </p:cNvPr>
          <p:cNvSpPr txBox="1"/>
          <p:nvPr userDrawn="1"/>
        </p:nvSpPr>
        <p:spPr>
          <a:xfrm>
            <a:off x="1685406" y="6497173"/>
            <a:ext cx="10506594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1" kern="900" spc="0" baseline="0" dirty="0">
                <a:solidFill>
                  <a:schemeClr val="bg1"/>
                </a:solidFill>
                <a:latin typeface="Geist Mono" pitchFamily="50" charset="0"/>
                <a:ea typeface="Geist Mono" pitchFamily="50" charset="0"/>
                <a:cs typeface="Geist Mono" pitchFamily="50" charset="0"/>
                <a:sym typeface="Arial"/>
              </a:rPr>
              <a:t>RAG – RETRIEVAL AUGMENTED GENERATION</a:t>
            </a:r>
            <a:endParaRPr lang="it-IT" sz="1200" kern="900" spc="0" baseline="0" dirty="0">
              <a:solidFill>
                <a:schemeClr val="bg1"/>
              </a:solidFill>
              <a:latin typeface="Geist Mono" pitchFamily="50" charset="0"/>
              <a:ea typeface="Geist Mono" pitchFamily="50" charset="0"/>
              <a:cs typeface="Geist Mono" pitchFamily="50" charset="0"/>
            </a:endParaRPr>
          </a:p>
        </p:txBody>
      </p:sp>
      <p:pic>
        <p:nvPicPr>
          <p:cNvPr id="19" name="Elemento grafico 18">
            <a:extLst>
              <a:ext uri="{FF2B5EF4-FFF2-40B4-BE49-F238E27FC236}">
                <a16:creationId xmlns:a16="http://schemas.microsoft.com/office/drawing/2014/main" id="{C7C495DB-18A4-4466-5D36-16EDAC76CC4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271766"/>
            <a:ext cx="1381814" cy="704319"/>
          </a:xfrm>
          <a:prstGeom prst="rect">
            <a:avLst/>
          </a:prstGeom>
        </p:spPr>
      </p:pic>
      <p:cxnSp>
        <p:nvCxnSpPr>
          <p:cNvPr id="20" name="Connettore diritto 19">
            <a:extLst>
              <a:ext uri="{FF2B5EF4-FFF2-40B4-BE49-F238E27FC236}">
                <a16:creationId xmlns:a16="http://schemas.microsoft.com/office/drawing/2014/main" id="{B602F05F-DE75-7460-F8D3-5FB69BA6AC5E}"/>
              </a:ext>
            </a:extLst>
          </p:cNvPr>
          <p:cNvCxnSpPr>
            <a:cxnSpLocks/>
          </p:cNvCxnSpPr>
          <p:nvPr userDrawn="1"/>
        </p:nvCxnSpPr>
        <p:spPr>
          <a:xfrm>
            <a:off x="1556297" y="6545369"/>
            <a:ext cx="0" cy="180568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8018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29;p9">
            <a:extLst>
              <a:ext uri="{FF2B5EF4-FFF2-40B4-BE49-F238E27FC236}">
                <a16:creationId xmlns:a16="http://schemas.microsoft.com/office/drawing/2014/main" id="{FD3C4680-01D4-B19F-F9C6-9D9C2280C04C}"/>
              </a:ext>
            </a:extLst>
          </p:cNvPr>
          <p:cNvSpPr/>
          <p:nvPr userDrawn="1"/>
        </p:nvSpPr>
        <p:spPr>
          <a:xfrm>
            <a:off x="0" y="2897298"/>
            <a:ext cx="9100109" cy="9279836"/>
          </a:xfrm>
          <a:custGeom>
            <a:avLst/>
            <a:gdLst/>
            <a:ahLst/>
            <a:cxnLst/>
            <a:rect l="l" t="t" r="r" b="b"/>
            <a:pathLst>
              <a:path w="401672" h="409605" extrusionOk="0">
                <a:moveTo>
                  <a:pt x="401673" y="204803"/>
                </a:moveTo>
                <a:cubicBezTo>
                  <a:pt x="401673" y="318021"/>
                  <a:pt x="310088" y="409605"/>
                  <a:pt x="196870" y="409605"/>
                </a:cubicBezTo>
                <a:lnTo>
                  <a:pt x="0" y="409605"/>
                </a:lnTo>
                <a:lnTo>
                  <a:pt x="0" y="0"/>
                </a:lnTo>
                <a:lnTo>
                  <a:pt x="196870" y="0"/>
                </a:lnTo>
                <a:cubicBezTo>
                  <a:pt x="310088" y="0"/>
                  <a:pt x="401673" y="91584"/>
                  <a:pt x="401673" y="204803"/>
                </a:cubicBezTo>
                <a:close/>
                <a:moveTo>
                  <a:pt x="240859" y="64181"/>
                </a:moveTo>
                <a:lnTo>
                  <a:pt x="60575" y="64181"/>
                </a:lnTo>
                <a:lnTo>
                  <a:pt x="60575" y="114661"/>
                </a:lnTo>
                <a:lnTo>
                  <a:pt x="240859" y="114661"/>
                </a:lnTo>
                <a:lnTo>
                  <a:pt x="240859" y="174515"/>
                </a:lnTo>
                <a:lnTo>
                  <a:pt x="60575" y="174515"/>
                </a:lnTo>
                <a:lnTo>
                  <a:pt x="60575" y="234369"/>
                </a:lnTo>
                <a:lnTo>
                  <a:pt x="240859" y="234369"/>
                </a:lnTo>
                <a:lnTo>
                  <a:pt x="240859" y="294223"/>
                </a:lnTo>
                <a:lnTo>
                  <a:pt x="60575" y="294223"/>
                </a:lnTo>
                <a:lnTo>
                  <a:pt x="60575" y="344703"/>
                </a:lnTo>
                <a:lnTo>
                  <a:pt x="240859" y="344703"/>
                </a:lnTo>
                <a:lnTo>
                  <a:pt x="240859" y="294223"/>
                </a:lnTo>
                <a:lnTo>
                  <a:pt x="300714" y="294223"/>
                </a:lnTo>
                <a:lnTo>
                  <a:pt x="300714" y="234369"/>
                </a:lnTo>
                <a:lnTo>
                  <a:pt x="240859" y="234369"/>
                </a:lnTo>
                <a:lnTo>
                  <a:pt x="240859" y="174515"/>
                </a:lnTo>
                <a:lnTo>
                  <a:pt x="300714" y="174515"/>
                </a:lnTo>
                <a:lnTo>
                  <a:pt x="300714" y="114661"/>
                </a:lnTo>
                <a:lnTo>
                  <a:pt x="240859" y="114661"/>
                </a:lnTo>
                <a:lnTo>
                  <a:pt x="240859" y="64181"/>
                </a:lnTo>
                <a:close/>
              </a:path>
            </a:pathLst>
          </a:custGeom>
          <a:solidFill>
            <a:srgbClr val="E5E5E5">
              <a:alpha val="33725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ACCB90FD-2C4A-51E0-F577-EB1FF0E2C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884" y="259882"/>
            <a:ext cx="8652672" cy="1926200"/>
          </a:xfrm>
        </p:spPr>
        <p:txBody>
          <a:bodyPr/>
          <a:lstStyle>
            <a:lvl1pPr>
              <a:defRPr sz="5000" b="1">
                <a:effectLst/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B4AD04A-D950-FBED-BFCF-C882EAABA7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884" y="2305346"/>
            <a:ext cx="10515600" cy="3447502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4E9A654-E13E-AA6E-341D-34A31C143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82224-D68F-4688-AA76-AC030DCA7279}" type="datetimeFigureOut">
              <a:rPr lang="it-IT" smtClean="0"/>
              <a:t>18/11/2025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064ADFE-AD34-9D99-C397-1C55557B2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5C4B9AA-627D-FB43-13BA-7062D10A0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BB015-EA28-4348-A653-CE6EF2BE0195}" type="slidenum">
              <a:rPr lang="it-IT" smtClean="0"/>
              <a:t>‹N›</a:t>
            </a:fld>
            <a:endParaRPr lang="it-IT" dirty="0"/>
          </a:p>
        </p:txBody>
      </p:sp>
      <p:pic>
        <p:nvPicPr>
          <p:cNvPr id="10" name="Google Shape;31;p9" descr="Immagine che contiene Elementi grafici, grafica, Carattere, schermata&#10;&#10;Descrizione generata automaticamente">
            <a:extLst>
              <a:ext uri="{FF2B5EF4-FFF2-40B4-BE49-F238E27FC236}">
                <a16:creationId xmlns:a16="http://schemas.microsoft.com/office/drawing/2014/main" id="{C15403D9-A96F-559D-CBE8-FD1BEA2BF419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9716262" y="502995"/>
            <a:ext cx="1893825" cy="338184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30;p9">
            <a:extLst>
              <a:ext uri="{FF2B5EF4-FFF2-40B4-BE49-F238E27FC236}">
                <a16:creationId xmlns:a16="http://schemas.microsoft.com/office/drawing/2014/main" id="{9236E465-C504-D171-F053-9208948A2F8D}"/>
              </a:ext>
            </a:extLst>
          </p:cNvPr>
          <p:cNvSpPr txBox="1"/>
          <p:nvPr userDrawn="1"/>
        </p:nvSpPr>
        <p:spPr>
          <a:xfrm>
            <a:off x="443924" y="6180054"/>
            <a:ext cx="8506296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1">
                <a:solidFill>
                  <a:schemeClr val="dk2"/>
                </a:solidFill>
                <a:latin typeface="Geist Mono" pitchFamily="50" charset="0"/>
                <a:ea typeface="Geist Mono" pitchFamily="50" charset="0"/>
                <a:cs typeface="Geist Mono" pitchFamily="50" charset="0"/>
                <a:sym typeface="Arial"/>
              </a:rPr>
              <a:t>RAG – Retrieval Augmented Generation</a:t>
            </a:r>
            <a:endParaRPr sz="1200" dirty="0">
              <a:latin typeface="Geist Mono" pitchFamily="50" charset="0"/>
              <a:ea typeface="Geist Mono" pitchFamily="50" charset="0"/>
              <a:cs typeface="Geist Mono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5095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89741F7-6679-BFAF-35E4-ACB22E802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5000" b="1">
                <a:effectLst/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71C1BB0-1EEE-DED9-6D04-0BF3857ED8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4765500-F699-7D8B-C6EC-C9F7B9D00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82224-D68F-4688-AA76-AC030DCA7279}" type="datetimeFigureOut">
              <a:rPr lang="it-IT" smtClean="0"/>
              <a:t>18/11/2025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BC94E26-FADF-909D-41EA-394365EA7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8A0975E-8D7F-6FEA-E1D0-949F1BCED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BB015-EA28-4348-A653-CE6EF2BE019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741160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FDAE4EF-F0C6-60BA-705A-A6E2A162665C}"/>
              </a:ext>
            </a:extLst>
          </p:cNvPr>
          <p:cNvSpPr>
            <a:spLocks noGrp="1"/>
          </p:cNvSpPr>
          <p:nvPr>
            <p:ph type="title"/>
          </p:nvPr>
        </p:nvSpPr>
        <p:spPr>
          <a:effectLst/>
        </p:spPr>
        <p:txBody>
          <a:bodyPr/>
          <a:lstStyle>
            <a:lvl1pPr>
              <a:defRPr sz="5000" b="1">
                <a:effectLst/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DA1DF4B-CDC3-BD55-1EEB-57E4EB0BBA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5E2D280F-1F37-980A-A4E8-102FF3D5AE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E5F8799-7EF5-C113-2C36-B2E738F65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82224-D68F-4688-AA76-AC030DCA7279}" type="datetimeFigureOut">
              <a:rPr lang="it-IT" smtClean="0"/>
              <a:t>18/11/2025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2B5C9EE9-1914-1400-4990-465A35452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6A86EC93-63D9-025E-C6F6-35B5AF740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BB015-EA28-4348-A653-CE6EF2BE019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57371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655AAA7-F5AF-FFA8-A349-7B14DD670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effectLst/>
        </p:spPr>
        <p:txBody>
          <a:bodyPr/>
          <a:lstStyle>
            <a:lvl1pPr>
              <a:defRPr sz="5000" b="1">
                <a:effectLst/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C251173-1C6B-8C5D-6C37-D51EDEB453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6FBC946-9613-B879-BF25-45C64C440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EE4A363D-25EB-A344-3FE4-19F2C41C53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B9368C58-03CF-0AA5-80BF-5FF164186F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EAEC7491-78E4-34C2-A0C0-45D156A08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82224-D68F-4688-AA76-AC030DCA7279}" type="datetimeFigureOut">
              <a:rPr lang="it-IT" smtClean="0"/>
              <a:t>18/11/2025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34A0BD99-278D-A796-A774-97C67299B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44F237C9-03B9-4F02-57FE-3F47EDCF4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BB015-EA28-4348-A653-CE6EF2BE019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887967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A3EC4C4-E66C-E1B3-4C4C-F7A1DE07E34B}"/>
              </a:ext>
            </a:extLst>
          </p:cNvPr>
          <p:cNvSpPr>
            <a:spLocks noGrp="1"/>
          </p:cNvSpPr>
          <p:nvPr>
            <p:ph type="title"/>
          </p:nvPr>
        </p:nvSpPr>
        <p:spPr>
          <a:effectLst/>
        </p:spPr>
        <p:txBody>
          <a:bodyPr/>
          <a:lstStyle>
            <a:lvl1pPr>
              <a:defRPr sz="5000" b="1">
                <a:effectLst/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468B8F46-C117-6DA8-C3E7-E8086A2DE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82224-D68F-4688-AA76-AC030DCA7279}" type="datetimeFigureOut">
              <a:rPr lang="it-IT" smtClean="0"/>
              <a:t>18/11/2025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E6456AB0-C161-2C98-4813-BB52584EB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E50B09D6-2203-1682-3323-55612A4CB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BB015-EA28-4348-A653-CE6EF2BE019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073506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B1B71C4E-7DC8-7210-8D38-6F3811D8A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82224-D68F-4688-AA76-AC030DCA7279}" type="datetimeFigureOut">
              <a:rPr lang="it-IT" smtClean="0"/>
              <a:t>18/11/2025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405710B8-AE3C-9911-4D45-86BE2A00F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8844A23-E6BA-B6C4-4E56-8C5F0CDC1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BB015-EA28-4348-A653-CE6EF2BE019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62538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556A4EA-52D0-B9E2-2BF7-328311A9A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 b="1">
                <a:effectLst/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7CB7708-DA7C-C29B-B4FC-E873FC1118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9E90BEBD-10C2-09AA-1A5A-BEB4775760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4255ABAD-C705-4972-FA90-18456F112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82224-D68F-4688-AA76-AC030DCA7279}" type="datetimeFigureOut">
              <a:rPr lang="it-IT" smtClean="0"/>
              <a:t>18/11/2025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09745F84-C0F9-C2F8-1CD3-A4350AC72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FEACFD5-5A09-B919-CC14-7E0EA1D78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BB015-EA28-4348-A653-CE6EF2BE019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990214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CC5634F-B6CE-D8B0-A810-5D9E0A088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 b="1">
                <a:effectLst/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99723EB1-C838-A2DE-7EFF-AF70904CB2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4D766FDB-EB73-FDE6-BF00-DD5AE7B9DA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6DED3AB8-79F0-8C62-5990-AEBCD646D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82224-D68F-4688-AA76-AC030DCA7279}" type="datetimeFigureOut">
              <a:rPr lang="it-IT" smtClean="0"/>
              <a:t>18/11/2025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1EC0BEEC-61F4-BC1F-DB57-631DDC4D7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ADC5A504-8615-3D99-BF8C-EC4F67955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BB015-EA28-4348-A653-CE6EF2BE019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642847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6525E15-FBFA-3469-45FA-9763C0825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5000" b="1">
                <a:effectLst/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02E696D1-4EBC-38D2-13FE-551F1BECFA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E39406E-42CA-3FDA-354A-6CCD18354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82224-D68F-4688-AA76-AC030DCA7279}" type="datetimeFigureOut">
              <a:rPr lang="it-IT" smtClean="0"/>
              <a:t>18/11/2025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65C81C0-F2FE-642F-B5E5-E84B90839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2EDB4B9-F256-C66F-3B06-902AFCD66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BB015-EA28-4348-A653-CE6EF2BE019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516266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74B1DE3D-0AE7-AFCC-752E-320454622F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0F1C77B6-6A8F-18F5-8771-F9E7627265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864E95B-5F0B-7B56-AE58-0480B2BF5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82224-D68F-4688-AA76-AC030DCA7279}" type="datetimeFigureOut">
              <a:rPr lang="it-IT" smtClean="0"/>
              <a:t>18/11/2025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33515C8-A54A-BE0E-7398-5F14EDAA0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F0CA181-3359-DAED-30F0-E2CA54E61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BB015-EA28-4348-A653-CE6EF2BE019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250928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sv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DD971AE2-BDFA-C68D-CE3F-4FC048183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9882"/>
            <a:ext cx="10515600" cy="1482291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it-IT" dirty="0"/>
              <a:t>Fare clic per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96DE7D6-4093-1380-43BC-2EAF31BCEB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74217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 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B9D68B8-9399-58D2-FED0-647902B391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C82224-D68F-4688-AA76-AC030DCA7279}" type="datetimeFigureOut">
              <a:rPr lang="it-IT" smtClean="0"/>
              <a:t>18/11/2025</a:t>
            </a:fld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D1416F6-E6C9-BE80-6664-A78255ECB3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DB1C913-5B27-89A8-8F46-0E145CA3B1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EBB015-EA28-4348-A653-CE6EF2BE019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859244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Geist Bold" pitchFamily="50" charset="0"/>
          <a:ea typeface="Geist Bold" pitchFamily="50" charset="0"/>
          <a:cs typeface="Geist Bold" pitchFamily="50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Tx/>
        <a:buBlip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</a:buBlip>
        <a:defRPr sz="2800" kern="1200">
          <a:solidFill>
            <a:schemeClr val="tx1"/>
          </a:solidFill>
          <a:latin typeface="Geist" pitchFamily="50" charset="0"/>
          <a:ea typeface="Geist" pitchFamily="50" charset="0"/>
          <a:cs typeface="Geist" pitchFamily="50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Geist" pitchFamily="50" charset="0"/>
          <a:ea typeface="Geist" pitchFamily="50" charset="0"/>
          <a:cs typeface="Geist" pitchFamily="50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Geist" pitchFamily="50" charset="0"/>
          <a:ea typeface="Geist" pitchFamily="50" charset="0"/>
          <a:cs typeface="Geist" pitchFamily="50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Geist" pitchFamily="50" charset="0"/>
          <a:ea typeface="Geist" pitchFamily="50" charset="0"/>
          <a:cs typeface="Geist" pitchFamily="50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Geist" pitchFamily="50" charset="0"/>
          <a:ea typeface="Geist" pitchFamily="50" charset="0"/>
          <a:cs typeface="Geist" pitchFamily="50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05CC18E0-2905-A27D-4D87-B773887B7F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7651" y="489925"/>
            <a:ext cx="10322621" cy="1786615"/>
          </a:xfrm>
        </p:spPr>
        <p:txBody>
          <a:bodyPr/>
          <a:lstStyle/>
          <a:p>
            <a:r>
              <a:rPr lang="it-IT" dirty="0">
                <a:solidFill>
                  <a:schemeClr val="bg1"/>
                </a:solidFill>
              </a:rPr>
              <a:t>RAG – </a:t>
            </a:r>
            <a:r>
              <a:rPr lang="it-IT" dirty="0" err="1">
                <a:solidFill>
                  <a:schemeClr val="bg1"/>
                </a:solidFill>
              </a:rPr>
              <a:t>Retrieval</a:t>
            </a:r>
            <a:br>
              <a:rPr lang="it-IT" dirty="0">
                <a:solidFill>
                  <a:schemeClr val="bg1"/>
                </a:solidFill>
              </a:rPr>
            </a:br>
            <a:r>
              <a:rPr lang="it-IT" dirty="0" err="1">
                <a:solidFill>
                  <a:schemeClr val="bg1"/>
                </a:solidFill>
              </a:rPr>
              <a:t>Augmented</a:t>
            </a:r>
            <a:r>
              <a:rPr lang="it-IT" dirty="0">
                <a:solidFill>
                  <a:schemeClr val="bg1"/>
                </a:solidFill>
              </a:rPr>
              <a:t> Generation</a:t>
            </a: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6204252F-7E63-5BE0-4253-8045B03859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1234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105787C-1C39-C910-8962-76659FC746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913" y="502995"/>
            <a:ext cx="7981916" cy="1328047"/>
          </a:xfrm>
        </p:spPr>
        <p:txBody>
          <a:bodyPr/>
          <a:lstStyle/>
          <a:p>
            <a:r>
              <a:rPr lang="it-IT" b="1" dirty="0">
                <a:latin typeface="Geist" pitchFamily="50" charset="0"/>
                <a:ea typeface="Geist" pitchFamily="50" charset="0"/>
                <a:cs typeface="Geist" pitchFamily="50" charset="0"/>
              </a:rPr>
              <a:t>Perché usare RAG</a:t>
            </a:r>
          </a:p>
        </p:txBody>
      </p:sp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EA773ACA-9CF6-0306-6C98-B1D5D0E63768}"/>
              </a:ext>
            </a:extLst>
          </p:cNvPr>
          <p:cNvSpPr/>
          <p:nvPr/>
        </p:nvSpPr>
        <p:spPr>
          <a:xfrm>
            <a:off x="2780521" y="2929812"/>
            <a:ext cx="1866123" cy="1138336"/>
          </a:xfrm>
          <a:prstGeom prst="roundRect">
            <a:avLst>
              <a:gd name="adj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3200" spc="600" dirty="0"/>
              <a:t>LLM</a:t>
            </a:r>
          </a:p>
        </p:txBody>
      </p:sp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5AF06F8F-CEE0-2543-6903-D8C714863CDE}"/>
              </a:ext>
            </a:extLst>
          </p:cNvPr>
          <p:cNvSpPr/>
          <p:nvPr/>
        </p:nvSpPr>
        <p:spPr>
          <a:xfrm>
            <a:off x="7361808" y="2929812"/>
            <a:ext cx="1866123" cy="1138336"/>
          </a:xfrm>
          <a:prstGeom prst="roundRect">
            <a:avLst>
              <a:gd name="adj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3200" spc="600" dirty="0"/>
              <a:t>RAG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9B51BAE7-19EC-8F62-1514-E45AB72D92EA}"/>
              </a:ext>
            </a:extLst>
          </p:cNvPr>
          <p:cNvSpPr txBox="1"/>
          <p:nvPr/>
        </p:nvSpPr>
        <p:spPr>
          <a:xfrm>
            <a:off x="1688989" y="4142792"/>
            <a:ext cx="404918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dirty="0"/>
              <a:t>Generale</a:t>
            </a:r>
          </a:p>
          <a:p>
            <a:pPr algn="ctr"/>
            <a:r>
              <a:rPr lang="it-IT" dirty="0"/>
              <a:t>Limitata ai dati di addestramento</a:t>
            </a:r>
          </a:p>
          <a:p>
            <a:pPr algn="ctr"/>
            <a:r>
              <a:rPr lang="it-IT" dirty="0"/>
              <a:t>Aggiornata fino all’ultimo addestramento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C8E9AC43-13D4-388A-FCFE-F719DD51495F}"/>
              </a:ext>
            </a:extLst>
          </p:cNvPr>
          <p:cNvSpPr txBox="1"/>
          <p:nvPr/>
        </p:nvSpPr>
        <p:spPr>
          <a:xfrm>
            <a:off x="6847581" y="4142792"/>
            <a:ext cx="289457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dirty="0"/>
              <a:t>Specifica</a:t>
            </a:r>
          </a:p>
          <a:p>
            <a:pPr algn="ctr"/>
            <a:r>
              <a:rPr lang="it-IT" dirty="0"/>
              <a:t>Oltre i dati di addestramento</a:t>
            </a:r>
          </a:p>
          <a:p>
            <a:pPr algn="ctr"/>
            <a:r>
              <a:rPr lang="it-IT" dirty="0"/>
              <a:t>Aggiornata in near-real-time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8D9930F8-CE97-7276-B38E-AF7EC50761CE}"/>
              </a:ext>
            </a:extLst>
          </p:cNvPr>
          <p:cNvSpPr txBox="1"/>
          <p:nvPr/>
        </p:nvSpPr>
        <p:spPr>
          <a:xfrm>
            <a:off x="4646644" y="1744825"/>
            <a:ext cx="22170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dirty="0"/>
              <a:t>CONOSCENZA</a:t>
            </a:r>
          </a:p>
        </p:txBody>
      </p:sp>
      <p:cxnSp>
        <p:nvCxnSpPr>
          <p:cNvPr id="11" name="Connettore a gomito 10">
            <a:extLst>
              <a:ext uri="{FF2B5EF4-FFF2-40B4-BE49-F238E27FC236}">
                <a16:creationId xmlns:a16="http://schemas.microsoft.com/office/drawing/2014/main" id="{99783871-47D4-9BF8-81F4-985C73A8D356}"/>
              </a:ext>
            </a:extLst>
          </p:cNvPr>
          <p:cNvCxnSpPr>
            <a:stCxn id="9" idx="1"/>
            <a:endCxn id="5" idx="0"/>
          </p:cNvCxnSpPr>
          <p:nvPr/>
        </p:nvCxnSpPr>
        <p:spPr>
          <a:xfrm rot="10800000" flipV="1">
            <a:off x="3713584" y="2006434"/>
            <a:ext cx="933061" cy="923377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Connettore a gomito 11">
            <a:extLst>
              <a:ext uri="{FF2B5EF4-FFF2-40B4-BE49-F238E27FC236}">
                <a16:creationId xmlns:a16="http://schemas.microsoft.com/office/drawing/2014/main" id="{2FD25B39-BF5A-15BD-4055-67DAB3239565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7317706" y="2006435"/>
            <a:ext cx="977164" cy="923377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Connettore a gomito 12">
            <a:extLst>
              <a:ext uri="{FF2B5EF4-FFF2-40B4-BE49-F238E27FC236}">
                <a16:creationId xmlns:a16="http://schemas.microsoft.com/office/drawing/2014/main" id="{D97E069C-09EA-AB94-701B-FEA25A0A1803}"/>
              </a:ext>
            </a:extLst>
          </p:cNvPr>
          <p:cNvCxnSpPr>
            <a:cxnSpLocks/>
            <a:stCxn id="5" idx="1"/>
            <a:endCxn id="7" idx="2"/>
          </p:cNvCxnSpPr>
          <p:nvPr/>
        </p:nvCxnSpPr>
        <p:spPr>
          <a:xfrm rot="10800000" flipH="1" flipV="1">
            <a:off x="2780520" y="3498980"/>
            <a:ext cx="933061" cy="1567142"/>
          </a:xfrm>
          <a:prstGeom prst="bentConnector4">
            <a:avLst>
              <a:gd name="adj1" fmla="val -141484"/>
              <a:gd name="adj2" fmla="val 114587"/>
            </a:avLst>
          </a:prstGeom>
          <a:ln>
            <a:solidFill>
              <a:schemeClr val="bg1">
                <a:lumMod val="50000"/>
              </a:schemeClr>
            </a:solidFill>
            <a:prstDash val="sysDash"/>
            <a:tailEnd type="triangl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F4E464B6-1117-52EF-DABE-C4FACBC4DD3A}"/>
              </a:ext>
            </a:extLst>
          </p:cNvPr>
          <p:cNvSpPr txBox="1"/>
          <p:nvPr/>
        </p:nvSpPr>
        <p:spPr>
          <a:xfrm rot="16200000">
            <a:off x="642794" y="4271352"/>
            <a:ext cx="1220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dirty="0">
                <a:solidFill>
                  <a:schemeClr val="bg1">
                    <a:lumMod val="50000"/>
                  </a:schemeClr>
                </a:solidFill>
              </a:rPr>
              <a:t>fine-tuning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44D174FC-BA11-8C5E-B6BC-683995E1ED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348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105787C-1C39-C910-8962-76659FC746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7886" y="298521"/>
            <a:ext cx="7981916" cy="954816"/>
          </a:xfrm>
        </p:spPr>
        <p:txBody>
          <a:bodyPr/>
          <a:lstStyle/>
          <a:p>
            <a:r>
              <a:rPr lang="it-IT" b="1" dirty="0">
                <a:latin typeface="Geist" pitchFamily="50" charset="0"/>
                <a:ea typeface="Geist" pitchFamily="50" charset="0"/>
                <a:cs typeface="Geist" pitchFamily="50" charset="0"/>
              </a:rPr>
              <a:t>Architettura RAG</a:t>
            </a:r>
          </a:p>
        </p:txBody>
      </p:sp>
      <p:sp>
        <p:nvSpPr>
          <p:cNvPr id="23" name="Rettangolo 22">
            <a:extLst>
              <a:ext uri="{FF2B5EF4-FFF2-40B4-BE49-F238E27FC236}">
                <a16:creationId xmlns:a16="http://schemas.microsoft.com/office/drawing/2014/main" id="{4AECDD79-6A29-761A-B7F2-31509B2357B3}"/>
              </a:ext>
            </a:extLst>
          </p:cNvPr>
          <p:cNvSpPr/>
          <p:nvPr/>
        </p:nvSpPr>
        <p:spPr>
          <a:xfrm>
            <a:off x="0" y="1095163"/>
            <a:ext cx="12192000" cy="52886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pic>
        <p:nvPicPr>
          <p:cNvPr id="24" name="Picture 4" descr="index_diagram">
            <a:extLst>
              <a:ext uri="{FF2B5EF4-FFF2-40B4-BE49-F238E27FC236}">
                <a16:creationId xmlns:a16="http://schemas.microsoft.com/office/drawing/2014/main" id="{8656DA7D-B1F0-9BF0-13CB-C14978D0602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3" t="7561" r="1285" b="11127"/>
          <a:stretch/>
        </p:blipFill>
        <p:spPr bwMode="auto">
          <a:xfrm>
            <a:off x="3153451" y="4143678"/>
            <a:ext cx="5418669" cy="2080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6" descr="retrieval_diagram">
            <a:extLst>
              <a:ext uri="{FF2B5EF4-FFF2-40B4-BE49-F238E27FC236}">
                <a16:creationId xmlns:a16="http://schemas.microsoft.com/office/drawing/2014/main" id="{30475BE5-8670-8374-1EB1-922554ACD07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53" t="9593" r="8235" b="25845"/>
          <a:stretch/>
        </p:blipFill>
        <p:spPr bwMode="auto">
          <a:xfrm>
            <a:off x="2411374" y="1095163"/>
            <a:ext cx="7672096" cy="2797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6" name="Connettore diritto 25">
            <a:extLst>
              <a:ext uri="{FF2B5EF4-FFF2-40B4-BE49-F238E27FC236}">
                <a16:creationId xmlns:a16="http://schemas.microsoft.com/office/drawing/2014/main" id="{397FAF5E-95E4-94DD-1223-29E2B51E227B}"/>
              </a:ext>
            </a:extLst>
          </p:cNvPr>
          <p:cNvCxnSpPr>
            <a:cxnSpLocks/>
          </p:cNvCxnSpPr>
          <p:nvPr/>
        </p:nvCxnSpPr>
        <p:spPr>
          <a:xfrm flipH="1">
            <a:off x="2411373" y="3734858"/>
            <a:ext cx="1569928" cy="4708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ttore diritto 26">
            <a:extLst>
              <a:ext uri="{FF2B5EF4-FFF2-40B4-BE49-F238E27FC236}">
                <a16:creationId xmlns:a16="http://schemas.microsoft.com/office/drawing/2014/main" id="{C5B6BD53-7A36-E6A0-62D0-72B6113B2FF3}"/>
              </a:ext>
            </a:extLst>
          </p:cNvPr>
          <p:cNvCxnSpPr>
            <a:cxnSpLocks/>
          </p:cNvCxnSpPr>
          <p:nvPr/>
        </p:nvCxnSpPr>
        <p:spPr>
          <a:xfrm>
            <a:off x="5915911" y="3717893"/>
            <a:ext cx="2953792" cy="3629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7924151F-5B14-FA8B-B471-DA32F799AAA9}"/>
              </a:ext>
            </a:extLst>
          </p:cNvPr>
          <p:cNvSpPr txBox="1"/>
          <p:nvPr/>
        </p:nvSpPr>
        <p:spPr>
          <a:xfrm rot="5400000">
            <a:off x="8096534" y="4870968"/>
            <a:ext cx="19921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>
                <a:solidFill>
                  <a:schemeClr val="accent1"/>
                </a:solidFill>
              </a:rPr>
              <a:t>indicizzazione</a:t>
            </a:r>
          </a:p>
        </p:txBody>
      </p:sp>
      <p:cxnSp>
        <p:nvCxnSpPr>
          <p:cNvPr id="29" name="Connettore diritto 28">
            <a:extLst>
              <a:ext uri="{FF2B5EF4-FFF2-40B4-BE49-F238E27FC236}">
                <a16:creationId xmlns:a16="http://schemas.microsoft.com/office/drawing/2014/main" id="{A7F2ED38-5943-C901-96E9-1FBC698CBF0A}"/>
              </a:ext>
            </a:extLst>
          </p:cNvPr>
          <p:cNvCxnSpPr>
            <a:cxnSpLocks/>
          </p:cNvCxnSpPr>
          <p:nvPr/>
        </p:nvCxnSpPr>
        <p:spPr>
          <a:xfrm>
            <a:off x="8869702" y="4075459"/>
            <a:ext cx="0" cy="21051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A6C78073-D633-00C8-B91B-5A1A81130984}"/>
              </a:ext>
            </a:extLst>
          </p:cNvPr>
          <p:cNvSpPr txBox="1"/>
          <p:nvPr/>
        </p:nvSpPr>
        <p:spPr>
          <a:xfrm>
            <a:off x="4320578" y="1286107"/>
            <a:ext cx="1260754" cy="400110"/>
          </a:xfrm>
          <a:prstGeom prst="rect">
            <a:avLst/>
          </a:prstGeom>
          <a:solidFill>
            <a:srgbClr val="0F172A"/>
          </a:solidFill>
        </p:spPr>
        <p:txBody>
          <a:bodyPr wrap="square" rtlCol="0">
            <a:spAutoFit/>
          </a:bodyPr>
          <a:lstStyle/>
          <a:p>
            <a:r>
              <a:rPr lang="it-IT" sz="2000" dirty="0">
                <a:solidFill>
                  <a:schemeClr val="accent1"/>
                </a:solidFill>
              </a:rPr>
              <a:t>recupero</a:t>
            </a:r>
          </a:p>
        </p:txBody>
      </p: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93DA1465-7DA9-7CC1-E69B-38727C8FAB2E}"/>
              </a:ext>
            </a:extLst>
          </p:cNvPr>
          <p:cNvSpPr txBox="1"/>
          <p:nvPr/>
        </p:nvSpPr>
        <p:spPr>
          <a:xfrm>
            <a:off x="6913218" y="1899232"/>
            <a:ext cx="1667036" cy="400110"/>
          </a:xfrm>
          <a:prstGeom prst="rect">
            <a:avLst/>
          </a:prstGeom>
          <a:solidFill>
            <a:srgbClr val="0F172A"/>
          </a:solidFill>
        </p:spPr>
        <p:txBody>
          <a:bodyPr wrap="square" rtlCol="0">
            <a:spAutoFit/>
          </a:bodyPr>
          <a:lstStyle/>
          <a:p>
            <a:r>
              <a:rPr lang="it-IT" sz="2000" dirty="0">
                <a:solidFill>
                  <a:schemeClr val="accent1"/>
                </a:solidFill>
              </a:rPr>
              <a:t>generazione</a:t>
            </a:r>
          </a:p>
        </p:txBody>
      </p:sp>
      <p:cxnSp>
        <p:nvCxnSpPr>
          <p:cNvPr id="32" name="Connettore diritto 31">
            <a:extLst>
              <a:ext uri="{FF2B5EF4-FFF2-40B4-BE49-F238E27FC236}">
                <a16:creationId xmlns:a16="http://schemas.microsoft.com/office/drawing/2014/main" id="{8EC53A17-9688-F3B9-29E1-B2F72A3820D1}"/>
              </a:ext>
            </a:extLst>
          </p:cNvPr>
          <p:cNvCxnSpPr>
            <a:cxnSpLocks/>
          </p:cNvCxnSpPr>
          <p:nvPr/>
        </p:nvCxnSpPr>
        <p:spPr>
          <a:xfrm>
            <a:off x="2418698" y="4194809"/>
            <a:ext cx="0" cy="19921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magine 2">
            <a:extLst>
              <a:ext uri="{FF2B5EF4-FFF2-40B4-BE49-F238E27FC236}">
                <a16:creationId xmlns:a16="http://schemas.microsoft.com/office/drawing/2014/main" id="{5954145B-8F79-0A41-6A3A-7628C2B71D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4626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105787C-1C39-C910-8962-76659FC746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1579" y="182947"/>
            <a:ext cx="7981916" cy="1039700"/>
          </a:xfrm>
        </p:spPr>
        <p:txBody>
          <a:bodyPr/>
          <a:lstStyle/>
          <a:p>
            <a:r>
              <a:rPr lang="it-IT" b="1" dirty="0">
                <a:latin typeface="Geist" pitchFamily="50" charset="0"/>
                <a:ea typeface="Geist" pitchFamily="50" charset="0"/>
                <a:cs typeface="Geist" pitchFamily="50" charset="0"/>
              </a:rPr>
              <a:t>Indicizzazione</a:t>
            </a:r>
          </a:p>
        </p:txBody>
      </p:sp>
      <p:sp>
        <p:nvSpPr>
          <p:cNvPr id="23" name="Rettangolo 22">
            <a:extLst>
              <a:ext uri="{FF2B5EF4-FFF2-40B4-BE49-F238E27FC236}">
                <a16:creationId xmlns:a16="http://schemas.microsoft.com/office/drawing/2014/main" id="{4AECDD79-6A29-761A-B7F2-31509B2357B3}"/>
              </a:ext>
            </a:extLst>
          </p:cNvPr>
          <p:cNvSpPr/>
          <p:nvPr/>
        </p:nvSpPr>
        <p:spPr>
          <a:xfrm>
            <a:off x="0" y="993491"/>
            <a:ext cx="12218434" cy="536921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pic>
        <p:nvPicPr>
          <p:cNvPr id="3" name="Picture 4" descr="index_diagram">
            <a:extLst>
              <a:ext uri="{FF2B5EF4-FFF2-40B4-BE49-F238E27FC236}">
                <a16:creationId xmlns:a16="http://schemas.microsoft.com/office/drawing/2014/main" id="{7C7AC4AD-7A28-3757-2BEA-412FA64F869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3" t="7561" r="1285" b="11127"/>
          <a:stretch/>
        </p:blipFill>
        <p:spPr bwMode="auto">
          <a:xfrm>
            <a:off x="1993568" y="1930534"/>
            <a:ext cx="8082841" cy="3388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E431A720-14E4-CC6B-160E-206A14DFF05C}"/>
              </a:ext>
            </a:extLst>
          </p:cNvPr>
          <p:cNvSpPr txBox="1"/>
          <p:nvPr/>
        </p:nvSpPr>
        <p:spPr>
          <a:xfrm>
            <a:off x="2106012" y="2392099"/>
            <a:ext cx="1670180" cy="707886"/>
          </a:xfrm>
          <a:prstGeom prst="rect">
            <a:avLst/>
          </a:prstGeom>
          <a:solidFill>
            <a:srgbClr val="0F172A"/>
          </a:solidFill>
        </p:spPr>
        <p:txBody>
          <a:bodyPr wrap="square" rtlCol="0">
            <a:spAutoFit/>
          </a:bodyPr>
          <a:lstStyle/>
          <a:p>
            <a:pPr algn="ctr"/>
            <a:r>
              <a:rPr lang="it-IT" sz="2000" b="1" dirty="0">
                <a:solidFill>
                  <a:schemeClr val="accent1"/>
                </a:solidFill>
              </a:rPr>
              <a:t>DOCUMENT</a:t>
            </a:r>
            <a:br>
              <a:rPr lang="it-IT" sz="2000" b="1" dirty="0">
                <a:solidFill>
                  <a:schemeClr val="accent1"/>
                </a:solidFill>
              </a:rPr>
            </a:br>
            <a:r>
              <a:rPr lang="it-IT" sz="2000" b="1" dirty="0">
                <a:solidFill>
                  <a:schemeClr val="accent1"/>
                </a:solidFill>
              </a:rPr>
              <a:t>LOADERS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17021E73-DFBA-4242-D4DC-0C7DACDC97DF}"/>
              </a:ext>
            </a:extLst>
          </p:cNvPr>
          <p:cNvSpPr txBox="1"/>
          <p:nvPr/>
        </p:nvSpPr>
        <p:spPr>
          <a:xfrm>
            <a:off x="4161857" y="2392099"/>
            <a:ext cx="1670180" cy="707886"/>
          </a:xfrm>
          <a:prstGeom prst="rect">
            <a:avLst/>
          </a:prstGeom>
          <a:solidFill>
            <a:srgbClr val="0F172A"/>
          </a:solidFill>
        </p:spPr>
        <p:txBody>
          <a:bodyPr wrap="square" rtlCol="0">
            <a:spAutoFit/>
          </a:bodyPr>
          <a:lstStyle/>
          <a:p>
            <a:pPr algn="ctr"/>
            <a:r>
              <a:rPr lang="it-IT" sz="2000" b="1" dirty="0">
                <a:solidFill>
                  <a:schemeClr val="accent1"/>
                </a:solidFill>
              </a:rPr>
              <a:t>TEXT SPLITTERS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2A6FE140-D3C7-18D8-592B-B75E46EE8F31}"/>
              </a:ext>
            </a:extLst>
          </p:cNvPr>
          <p:cNvSpPr txBox="1"/>
          <p:nvPr/>
        </p:nvSpPr>
        <p:spPr>
          <a:xfrm>
            <a:off x="6155520" y="2407413"/>
            <a:ext cx="1997811" cy="707886"/>
          </a:xfrm>
          <a:prstGeom prst="rect">
            <a:avLst/>
          </a:prstGeom>
          <a:solidFill>
            <a:srgbClr val="0F172A"/>
          </a:solidFill>
        </p:spPr>
        <p:txBody>
          <a:bodyPr wrap="square" rtlCol="0">
            <a:spAutoFit/>
          </a:bodyPr>
          <a:lstStyle/>
          <a:p>
            <a:pPr algn="ctr"/>
            <a:r>
              <a:rPr lang="it-IT" sz="2000" b="1" dirty="0">
                <a:solidFill>
                  <a:schemeClr val="accent1"/>
                </a:solidFill>
              </a:rPr>
              <a:t>EMBEDDINGS MODEL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3BAB1789-B2EC-455B-CA0B-6B4BE0957DDB}"/>
              </a:ext>
            </a:extLst>
          </p:cNvPr>
          <p:cNvSpPr txBox="1"/>
          <p:nvPr/>
        </p:nvSpPr>
        <p:spPr>
          <a:xfrm>
            <a:off x="8310871" y="2392099"/>
            <a:ext cx="1670180" cy="707886"/>
          </a:xfrm>
          <a:prstGeom prst="rect">
            <a:avLst/>
          </a:prstGeom>
          <a:solidFill>
            <a:srgbClr val="0F172A"/>
          </a:solidFill>
        </p:spPr>
        <p:txBody>
          <a:bodyPr wrap="square" rtlCol="0">
            <a:spAutoFit/>
          </a:bodyPr>
          <a:lstStyle/>
          <a:p>
            <a:pPr algn="ctr"/>
            <a:r>
              <a:rPr lang="it-IT" sz="2000" b="1" dirty="0">
                <a:solidFill>
                  <a:schemeClr val="accent1"/>
                </a:solidFill>
              </a:rPr>
              <a:t>VECTOR STORE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15DB269D-7684-DA4F-DB55-80730176862E}"/>
              </a:ext>
            </a:extLst>
          </p:cNvPr>
          <p:cNvSpPr txBox="1"/>
          <p:nvPr/>
        </p:nvSpPr>
        <p:spPr>
          <a:xfrm>
            <a:off x="4290590" y="1492040"/>
            <a:ext cx="5514843" cy="400110"/>
          </a:xfrm>
          <a:prstGeom prst="rect">
            <a:avLst/>
          </a:prstGeom>
          <a:solidFill>
            <a:srgbClr val="0F172A"/>
          </a:solidFill>
        </p:spPr>
        <p:txBody>
          <a:bodyPr wrap="square" rtlCol="0">
            <a:spAutoFit/>
          </a:bodyPr>
          <a:lstStyle/>
          <a:p>
            <a:r>
              <a:rPr lang="it-IT" sz="2000" dirty="0">
                <a:solidFill>
                  <a:schemeClr val="bg1"/>
                </a:solidFill>
              </a:rPr>
              <a:t>Componenti LangChain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CF65B3F8-C260-DECE-7628-C5CBFC595B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7410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105787C-1C39-C910-8962-76659FC746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912" y="502997"/>
            <a:ext cx="10926915" cy="1634808"/>
          </a:xfrm>
        </p:spPr>
        <p:txBody>
          <a:bodyPr/>
          <a:lstStyle/>
          <a:p>
            <a:r>
              <a:rPr lang="it-IT" b="1" dirty="0" err="1">
                <a:latin typeface="Geist" pitchFamily="50" charset="0"/>
                <a:ea typeface="Geist" pitchFamily="50" charset="0"/>
                <a:cs typeface="Geist" pitchFamily="50" charset="0"/>
              </a:rPr>
              <a:t>Vector</a:t>
            </a:r>
            <a:r>
              <a:rPr lang="it-IT" b="1" dirty="0">
                <a:latin typeface="Geist" pitchFamily="50" charset="0"/>
                <a:ea typeface="Geist" pitchFamily="50" charset="0"/>
                <a:cs typeface="Geist" pitchFamily="50" charset="0"/>
              </a:rPr>
              <a:t> Database </a:t>
            </a:r>
            <a:br>
              <a:rPr lang="it-IT" b="1" dirty="0">
                <a:latin typeface="Geist" pitchFamily="50" charset="0"/>
                <a:ea typeface="Geist" pitchFamily="50" charset="0"/>
                <a:cs typeface="Geist" pitchFamily="50" charset="0"/>
              </a:rPr>
            </a:br>
            <a:r>
              <a:rPr lang="it-IT" b="1" dirty="0">
                <a:latin typeface="Geist" pitchFamily="50" charset="0"/>
                <a:ea typeface="Geist" pitchFamily="50" charset="0"/>
                <a:cs typeface="Geist" pitchFamily="50" charset="0"/>
              </a:rPr>
              <a:t>Management System  (VDBMS)</a:t>
            </a:r>
          </a:p>
        </p:txBody>
      </p:sp>
      <p:sp>
        <p:nvSpPr>
          <p:cNvPr id="10" name="Segnaposto contenuto 9">
            <a:extLst>
              <a:ext uri="{FF2B5EF4-FFF2-40B4-BE49-F238E27FC236}">
                <a16:creationId xmlns:a16="http://schemas.microsoft.com/office/drawing/2014/main" id="{32257312-1D89-ECF2-EF5E-A95E9447E0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912" y="2347887"/>
            <a:ext cx="8327347" cy="3106981"/>
          </a:xfrm>
        </p:spPr>
        <p:txBody>
          <a:bodyPr/>
          <a:lstStyle/>
          <a:p>
            <a:pPr>
              <a:lnSpc>
                <a:spcPts val="2700"/>
              </a:lnSpc>
            </a:pPr>
            <a:r>
              <a:rPr lang="it-IT" dirty="0"/>
              <a:t>Collezione di dati memorizzati in forma di vettori</a:t>
            </a:r>
          </a:p>
          <a:p>
            <a:pPr lvl="1">
              <a:lnSpc>
                <a:spcPts val="2700"/>
              </a:lnSpc>
            </a:pPr>
            <a:r>
              <a:rPr lang="it-IT" dirty="0"/>
              <a:t>Permette ai SW di elaborare efficacemente testi</a:t>
            </a:r>
            <a:br>
              <a:rPr lang="it-IT" dirty="0"/>
            </a:br>
            <a:endParaRPr lang="it-IT" dirty="0"/>
          </a:p>
          <a:p>
            <a:pPr>
              <a:lnSpc>
                <a:spcPts val="2700"/>
              </a:lnSpc>
            </a:pPr>
            <a:r>
              <a:rPr lang="it-IT" dirty="0"/>
              <a:t>Velocità nel trovare elementi simili</a:t>
            </a:r>
            <a:br>
              <a:rPr lang="it-IT" dirty="0"/>
            </a:br>
            <a:endParaRPr lang="it-IT" dirty="0"/>
          </a:p>
          <a:p>
            <a:pPr lvl="1">
              <a:lnSpc>
                <a:spcPts val="2700"/>
              </a:lnSpc>
            </a:pPr>
            <a:r>
              <a:rPr lang="it-IT" dirty="0"/>
              <a:t>Ricerche</a:t>
            </a:r>
          </a:p>
          <a:p>
            <a:pPr lvl="1">
              <a:lnSpc>
                <a:spcPts val="2700"/>
              </a:lnSpc>
            </a:pPr>
            <a:r>
              <a:rPr lang="it-IT" dirty="0"/>
              <a:t>Raccomandazioni</a:t>
            </a:r>
          </a:p>
          <a:p>
            <a:pPr lvl="1">
              <a:lnSpc>
                <a:spcPts val="2700"/>
              </a:lnSpc>
            </a:pPr>
            <a:r>
              <a:rPr lang="it-IT" dirty="0"/>
              <a:t>Generazione</a:t>
            </a:r>
          </a:p>
        </p:txBody>
      </p:sp>
      <p:sp>
        <p:nvSpPr>
          <p:cNvPr id="3" name="Figura a mano libera: forma 2">
            <a:extLst>
              <a:ext uri="{FF2B5EF4-FFF2-40B4-BE49-F238E27FC236}">
                <a16:creationId xmlns:a16="http://schemas.microsoft.com/office/drawing/2014/main" id="{2AB2C1AF-24CC-7162-5D4E-08D0D5A3632B}"/>
              </a:ext>
            </a:extLst>
          </p:cNvPr>
          <p:cNvSpPr/>
          <p:nvPr/>
        </p:nvSpPr>
        <p:spPr>
          <a:xfrm>
            <a:off x="3711950" y="4738407"/>
            <a:ext cx="388201" cy="388201"/>
          </a:xfrm>
          <a:custGeom>
            <a:avLst/>
            <a:gdLst>
              <a:gd name="connsiteX0" fmla="*/ 0 w 173072"/>
              <a:gd name="connsiteY0" fmla="*/ 0 h 173072"/>
              <a:gd name="connsiteX1" fmla="*/ 0 w 173072"/>
              <a:gd name="connsiteY1" fmla="*/ 173073 h 173072"/>
              <a:gd name="connsiteX2" fmla="*/ 173073 w 173072"/>
              <a:gd name="connsiteY2" fmla="*/ 173073 h 173072"/>
              <a:gd name="connsiteX3" fmla="*/ 173073 w 173072"/>
              <a:gd name="connsiteY3" fmla="*/ 0 h 173072"/>
              <a:gd name="connsiteX4" fmla="*/ 0 w 173072"/>
              <a:gd name="connsiteY4" fmla="*/ 0 h 173072"/>
              <a:gd name="connsiteX5" fmla="*/ 76440 w 173072"/>
              <a:gd name="connsiteY5" fmla="*/ 116824 h 173072"/>
              <a:gd name="connsiteX6" fmla="*/ 76440 w 173072"/>
              <a:gd name="connsiteY6" fmla="*/ 96632 h 173072"/>
              <a:gd name="connsiteX7" fmla="*/ 96632 w 173072"/>
              <a:gd name="connsiteY7" fmla="*/ 96632 h 173072"/>
              <a:gd name="connsiteX8" fmla="*/ 96632 w 173072"/>
              <a:gd name="connsiteY8" fmla="*/ 76440 h 173072"/>
              <a:gd name="connsiteX9" fmla="*/ 76440 w 173072"/>
              <a:gd name="connsiteY9" fmla="*/ 76440 h 173072"/>
              <a:gd name="connsiteX10" fmla="*/ 76440 w 173072"/>
              <a:gd name="connsiteY10" fmla="*/ 56249 h 173072"/>
              <a:gd name="connsiteX11" fmla="*/ 56248 w 173072"/>
              <a:gd name="connsiteY11" fmla="*/ 56249 h 173072"/>
              <a:gd name="connsiteX12" fmla="*/ 56248 w 173072"/>
              <a:gd name="connsiteY12" fmla="*/ 36057 h 173072"/>
              <a:gd name="connsiteX13" fmla="*/ 76440 w 173072"/>
              <a:gd name="connsiteY13" fmla="*/ 36057 h 173072"/>
              <a:gd name="connsiteX14" fmla="*/ 76440 w 173072"/>
              <a:gd name="connsiteY14" fmla="*/ 56249 h 173072"/>
              <a:gd name="connsiteX15" fmla="*/ 96632 w 173072"/>
              <a:gd name="connsiteY15" fmla="*/ 56249 h 173072"/>
              <a:gd name="connsiteX16" fmla="*/ 96632 w 173072"/>
              <a:gd name="connsiteY16" fmla="*/ 76440 h 173072"/>
              <a:gd name="connsiteX17" fmla="*/ 116824 w 173072"/>
              <a:gd name="connsiteY17" fmla="*/ 76440 h 173072"/>
              <a:gd name="connsiteX18" fmla="*/ 116824 w 173072"/>
              <a:gd name="connsiteY18" fmla="*/ 96632 h 173072"/>
              <a:gd name="connsiteX19" fmla="*/ 96632 w 173072"/>
              <a:gd name="connsiteY19" fmla="*/ 96632 h 173072"/>
              <a:gd name="connsiteX20" fmla="*/ 96632 w 173072"/>
              <a:gd name="connsiteY20" fmla="*/ 116824 h 173072"/>
              <a:gd name="connsiteX21" fmla="*/ 76440 w 173072"/>
              <a:gd name="connsiteY21" fmla="*/ 116824 h 173072"/>
              <a:gd name="connsiteX22" fmla="*/ 76440 w 173072"/>
              <a:gd name="connsiteY22" fmla="*/ 137016 h 173072"/>
              <a:gd name="connsiteX23" fmla="*/ 56248 w 173072"/>
              <a:gd name="connsiteY23" fmla="*/ 137016 h 173072"/>
              <a:gd name="connsiteX24" fmla="*/ 56248 w 173072"/>
              <a:gd name="connsiteY24" fmla="*/ 116824 h 173072"/>
              <a:gd name="connsiteX25" fmla="*/ 76440 w 173072"/>
              <a:gd name="connsiteY25" fmla="*/ 116824 h 173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73072" h="173072">
                <a:moveTo>
                  <a:pt x="0" y="0"/>
                </a:moveTo>
                <a:lnTo>
                  <a:pt x="0" y="173073"/>
                </a:lnTo>
                <a:lnTo>
                  <a:pt x="173073" y="173073"/>
                </a:lnTo>
                <a:lnTo>
                  <a:pt x="173073" y="0"/>
                </a:lnTo>
                <a:lnTo>
                  <a:pt x="0" y="0"/>
                </a:lnTo>
                <a:close/>
                <a:moveTo>
                  <a:pt x="76440" y="116824"/>
                </a:moveTo>
                <a:lnTo>
                  <a:pt x="76440" y="96632"/>
                </a:lnTo>
                <a:lnTo>
                  <a:pt x="96632" y="96632"/>
                </a:lnTo>
                <a:lnTo>
                  <a:pt x="96632" y="76440"/>
                </a:lnTo>
                <a:lnTo>
                  <a:pt x="76440" y="76440"/>
                </a:lnTo>
                <a:lnTo>
                  <a:pt x="76440" y="56249"/>
                </a:lnTo>
                <a:lnTo>
                  <a:pt x="56248" y="56249"/>
                </a:lnTo>
                <a:lnTo>
                  <a:pt x="56248" y="36057"/>
                </a:lnTo>
                <a:lnTo>
                  <a:pt x="76440" y="36057"/>
                </a:lnTo>
                <a:lnTo>
                  <a:pt x="76440" y="56249"/>
                </a:lnTo>
                <a:lnTo>
                  <a:pt x="96632" y="56249"/>
                </a:lnTo>
                <a:lnTo>
                  <a:pt x="96632" y="76440"/>
                </a:lnTo>
                <a:lnTo>
                  <a:pt x="116824" y="76440"/>
                </a:lnTo>
                <a:lnTo>
                  <a:pt x="116824" y="96632"/>
                </a:lnTo>
                <a:lnTo>
                  <a:pt x="96632" y="96632"/>
                </a:lnTo>
                <a:lnTo>
                  <a:pt x="96632" y="116824"/>
                </a:lnTo>
                <a:lnTo>
                  <a:pt x="76440" y="116824"/>
                </a:lnTo>
                <a:lnTo>
                  <a:pt x="76440" y="137016"/>
                </a:lnTo>
                <a:lnTo>
                  <a:pt x="56248" y="137016"/>
                </a:lnTo>
                <a:lnTo>
                  <a:pt x="56248" y="116824"/>
                </a:lnTo>
                <a:lnTo>
                  <a:pt x="76440" y="116824"/>
                </a:lnTo>
                <a:close/>
              </a:path>
            </a:pathLst>
          </a:custGeom>
          <a:solidFill>
            <a:srgbClr val="00000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it-IT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1F4F6773-1CF2-FCE0-A093-968160C65D23}"/>
              </a:ext>
            </a:extLst>
          </p:cNvPr>
          <p:cNvSpPr txBox="1"/>
          <p:nvPr/>
        </p:nvSpPr>
        <p:spPr>
          <a:xfrm>
            <a:off x="4038366" y="4272079"/>
            <a:ext cx="3222357" cy="17090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it-IT" dirty="0"/>
              <a:t>Comparazioni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it-IT" dirty="0"/>
              <a:t>Identificare Relazioni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it-IT" dirty="0"/>
              <a:t>Sfruttare il Contesto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5B87E70E-BE89-8820-59C0-BC2EC21CA2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1009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1DFF691-C5A1-E3DF-B3FE-316CC8BFB1D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/>
              <a:t>Principali VDBMS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ADD17D1-521B-D0A4-8232-B4B1D20E51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913" y="1604018"/>
            <a:ext cx="8220850" cy="2539159"/>
          </a:xfrm>
        </p:spPr>
        <p:txBody>
          <a:bodyPr/>
          <a:lstStyle/>
          <a:p>
            <a:r>
              <a:rPr lang="it-IT" dirty="0"/>
              <a:t>Apache Cassandra</a:t>
            </a:r>
          </a:p>
          <a:p>
            <a:r>
              <a:rPr lang="it-IT" dirty="0"/>
              <a:t>Chroma</a:t>
            </a:r>
          </a:p>
          <a:p>
            <a:r>
              <a:rPr lang="it-IT" dirty="0"/>
              <a:t>Azure Cosmos DB</a:t>
            </a:r>
          </a:p>
          <a:p>
            <a:r>
              <a:rPr lang="it-IT" dirty="0" err="1"/>
              <a:t>Elasticsearch</a:t>
            </a:r>
            <a:endParaRPr lang="it-IT" dirty="0"/>
          </a:p>
          <a:p>
            <a:r>
              <a:rPr lang="it-IT" dirty="0" err="1"/>
              <a:t>Redis</a:t>
            </a:r>
            <a:r>
              <a:rPr lang="it-IT" dirty="0"/>
              <a:t> </a:t>
            </a:r>
            <a:r>
              <a:rPr lang="it-IT" dirty="0" err="1"/>
              <a:t>Stack</a:t>
            </a:r>
            <a:endParaRPr lang="it-IT" dirty="0"/>
          </a:p>
          <a:p>
            <a:r>
              <a:rPr lang="it-IT" dirty="0"/>
              <a:t>. . . </a:t>
            </a:r>
          </a:p>
          <a:p>
            <a:pPr marL="0" indent="0">
              <a:buNone/>
            </a:pPr>
            <a:endParaRPr lang="it-IT" dirty="0"/>
          </a:p>
        </p:txBody>
      </p:sp>
      <p:sp>
        <p:nvSpPr>
          <p:cNvPr id="4" name="Segnaposto contenuto 2">
            <a:extLst>
              <a:ext uri="{FF2B5EF4-FFF2-40B4-BE49-F238E27FC236}">
                <a16:creationId xmlns:a16="http://schemas.microsoft.com/office/drawing/2014/main" id="{53C37558-09E4-8906-E6A7-4BE4879FDD7A}"/>
              </a:ext>
            </a:extLst>
          </p:cNvPr>
          <p:cNvSpPr txBox="1">
            <a:spLocks/>
          </p:cNvSpPr>
          <p:nvPr/>
        </p:nvSpPr>
        <p:spPr>
          <a:xfrm>
            <a:off x="4132307" y="1604018"/>
            <a:ext cx="8220850" cy="253915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2000" kern="1200">
                <a:solidFill>
                  <a:schemeClr val="tx1"/>
                </a:solidFill>
                <a:latin typeface="Geist" pitchFamily="50" charset="0"/>
                <a:ea typeface="Geist" pitchFamily="50" charset="0"/>
                <a:cs typeface="Geist" pitchFamily="50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Geist" pitchFamily="50" charset="0"/>
                <a:ea typeface="Geist" pitchFamily="50" charset="0"/>
                <a:cs typeface="Geist" pitchFamily="50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Geist" pitchFamily="50" charset="0"/>
                <a:ea typeface="Geist" pitchFamily="50" charset="0"/>
                <a:cs typeface="Geist" pitchFamily="50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Geist" pitchFamily="50" charset="0"/>
                <a:ea typeface="Geist" pitchFamily="50" charset="0"/>
                <a:cs typeface="Geist" pitchFamily="50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latin typeface="Geist" pitchFamily="50" charset="0"/>
                <a:ea typeface="Geist" pitchFamily="50" charset="0"/>
                <a:cs typeface="Geist" pitchFamily="50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 err="1"/>
              <a:t>MongoDB</a:t>
            </a:r>
            <a:r>
              <a:rPr lang="it-IT" dirty="0"/>
              <a:t> Atlas</a:t>
            </a:r>
          </a:p>
          <a:p>
            <a:r>
              <a:rPr lang="it-IT" dirty="0" err="1"/>
              <a:t>OpenSearch</a:t>
            </a:r>
            <a:endParaRPr lang="it-IT" dirty="0"/>
          </a:p>
          <a:p>
            <a:r>
              <a:rPr lang="it-IT" dirty="0" err="1"/>
              <a:t>Pinecone</a:t>
            </a:r>
            <a:endParaRPr lang="it-IT" dirty="0"/>
          </a:p>
          <a:p>
            <a:r>
              <a:rPr lang="it-IT" dirty="0" err="1"/>
              <a:t>PostgreSQL</a:t>
            </a:r>
            <a:r>
              <a:rPr lang="it-IT" dirty="0"/>
              <a:t> </a:t>
            </a:r>
            <a:r>
              <a:rPr lang="it-IT" dirty="0" err="1"/>
              <a:t>pgVector</a:t>
            </a:r>
            <a:endParaRPr lang="it-IT" dirty="0"/>
          </a:p>
          <a:p>
            <a:r>
              <a:rPr lang="it-IT" dirty="0" err="1"/>
              <a:t>Qdrant</a:t>
            </a:r>
            <a:endParaRPr lang="it-IT" dirty="0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5C874450-3B98-9DF8-AEA5-88F8255CA2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9009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DATA MASTERS / Accent">
      <a:dk1>
        <a:srgbClr val="080808"/>
      </a:dk1>
      <a:lt1>
        <a:srgbClr val="FFFFFF"/>
      </a:lt1>
      <a:dk2>
        <a:srgbClr val="2D51FF"/>
      </a:dk2>
      <a:lt2>
        <a:srgbClr val="D5DCFF"/>
      </a:lt2>
      <a:accent1>
        <a:srgbClr val="E5FC54"/>
      </a:accent1>
      <a:accent2>
        <a:srgbClr val="32FE6B"/>
      </a:accent2>
      <a:accent3>
        <a:srgbClr val="C294FF"/>
      </a:accent3>
      <a:accent4>
        <a:srgbClr val="FE5D02"/>
      </a:accent4>
      <a:accent5>
        <a:srgbClr val="FF70FE"/>
      </a:accent5>
      <a:accent6>
        <a:srgbClr val="680031"/>
      </a:accent6>
      <a:hlink>
        <a:srgbClr val="202F74"/>
      </a:hlink>
      <a:folHlink>
        <a:srgbClr val="8197FF"/>
      </a:folHlink>
    </a:clrScheme>
    <a:fontScheme name="Personalizzato 1">
      <a:majorFont>
        <a:latin typeface="Geist Bold"/>
        <a:ea typeface=""/>
        <a:cs typeface=""/>
      </a:majorFont>
      <a:minorFont>
        <a:latin typeface="Geis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000000"/>
        </a:solidFill>
        <a:ln w="0" cap="flat">
          <a:noFill/>
          <a:prstDash val="solid"/>
          <a:miter/>
        </a:ln>
      </a:spPr>
      <a:bodyPr rtlCol="0" anchor="ctr"/>
      <a:lstStyle>
        <a:defPPr algn="l">
          <a:defRPr/>
        </a:defPPr>
      </a:lst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B809FA71382204294321F6C3F535BEC" ma:contentTypeVersion="13" ma:contentTypeDescription="Create a new document." ma:contentTypeScope="" ma:versionID="462cf6748f81e098dd0229888c0fa2f8">
  <xsd:schema xmlns:xsd="http://www.w3.org/2001/XMLSchema" xmlns:xs="http://www.w3.org/2001/XMLSchema" xmlns:p="http://schemas.microsoft.com/office/2006/metadata/properties" xmlns:ns3="353f576e-7571-42eb-a583-f6ee00a35c12" xmlns:ns4="819aceb8-ae72-44cd-9e9a-b5814a12d025" targetNamespace="http://schemas.microsoft.com/office/2006/metadata/properties" ma:root="true" ma:fieldsID="aff3df43564ee12be9b7f25b06b72f73" ns3:_="" ns4:_="">
    <xsd:import namespace="353f576e-7571-42eb-a583-f6ee00a35c12"/>
    <xsd:import namespace="819aceb8-ae72-44cd-9e9a-b5814a12d02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53f576e-7571-42eb-a583-f6ee00a35c1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9aceb8-ae72-44cd-9e9a-b5814a12d025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53f576e-7571-42eb-a583-f6ee00a35c12" xsi:nil="true"/>
  </documentManagement>
</p:properties>
</file>

<file path=customXml/itemProps1.xml><?xml version="1.0" encoding="utf-8"?>
<ds:datastoreItem xmlns:ds="http://schemas.openxmlformats.org/officeDocument/2006/customXml" ds:itemID="{5E895530-AECB-41E7-96A7-11DBB7B2314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53f576e-7571-42eb-a583-f6ee00a35c12"/>
    <ds:schemaRef ds:uri="819aceb8-ae72-44cd-9e9a-b5814a12d02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E7E678E-2CFB-4638-A4F2-B6356E80FA4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BF8CE36-5921-4FE9-A54E-CD62DE644008}">
  <ds:schemaRefs>
    <ds:schemaRef ds:uri="http://schemas.microsoft.com/office/2006/documentManagement/types"/>
    <ds:schemaRef ds:uri="http://purl.org/dc/dcmitype/"/>
    <ds:schemaRef ds:uri="819aceb8-ae72-44cd-9e9a-b5814a12d025"/>
    <ds:schemaRef ds:uri="http://www.w3.org/XML/1998/namespace"/>
    <ds:schemaRef ds:uri="http://purl.org/dc/elements/1.1/"/>
    <ds:schemaRef ds:uri="http://purl.org/dc/terms/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353f576e-7571-42eb-a583-f6ee00a35c12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1171</TotalTime>
  <Words>109</Words>
  <Application>Microsoft Office PowerPoint</Application>
  <PresentationFormat>Widescreen</PresentationFormat>
  <Paragraphs>44</Paragraphs>
  <Slides>6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6</vt:i4>
      </vt:variant>
    </vt:vector>
  </HeadingPairs>
  <TitlesOfParts>
    <vt:vector size="13" baseType="lpstr">
      <vt:lpstr>Arial</vt:lpstr>
      <vt:lpstr>Geist</vt:lpstr>
      <vt:lpstr>Geist Black</vt:lpstr>
      <vt:lpstr>Geist Bold</vt:lpstr>
      <vt:lpstr>Geist Mono</vt:lpstr>
      <vt:lpstr>Wingdings</vt:lpstr>
      <vt:lpstr>Tema di Office</vt:lpstr>
      <vt:lpstr>RAG – Retrieval Augmented Generation</vt:lpstr>
      <vt:lpstr>Perché usare RAG</vt:lpstr>
      <vt:lpstr>Architettura RAG</vt:lpstr>
      <vt:lpstr>Indicizzazione</vt:lpstr>
      <vt:lpstr>Vector Database  Management System  (VDBMS)</vt:lpstr>
      <vt:lpstr>Principali VDBMS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LARGE LANGUAGE MODELS</dc:title>
  <dc:creator>Marianna Palmieri</dc:creator>
  <cp:lastModifiedBy>Vincenzo Maritati</cp:lastModifiedBy>
  <cp:revision>25</cp:revision>
  <dcterms:created xsi:type="dcterms:W3CDTF">2024-05-07T08:54:19Z</dcterms:created>
  <dcterms:modified xsi:type="dcterms:W3CDTF">2025-11-18T19:22:56Z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0x0101001B809FA71382204294321F6C3F535BEC</vt:lpwstr>
  </property>
</Properties>
</file>